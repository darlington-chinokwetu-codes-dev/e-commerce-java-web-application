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74" r:id="rId6"/>
    <p:sldId id="278" r:id="rId7"/>
    <p:sldId id="280" r:id="rId8"/>
    <p:sldId id="283" r:id="rId9"/>
    <p:sldId id="286" r:id="rId10"/>
    <p:sldId id="285" r:id="rId11"/>
    <p:sldId id="284" r:id="rId12"/>
    <p:sldId id="271" r:id="rId13"/>
    <p:sldId id="281" r:id="rId14"/>
    <p:sldId id="287" r:id="rId15"/>
    <p:sldId id="289" r:id="rId16"/>
    <p:sldId id="288" r:id="rId17"/>
    <p:sldId id="290" r:id="rId18"/>
    <p:sldId id="291" r:id="rId19"/>
    <p:sldId id="268" r:id="rId20"/>
    <p:sldId id="269" r:id="rId21"/>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4" autoAdjust="0"/>
    <p:restoredTop sz="95033" autoAdjust="0"/>
  </p:normalViewPr>
  <p:slideViewPr>
    <p:cSldViewPr>
      <p:cViewPr varScale="1">
        <p:scale>
          <a:sx n="69" d="100"/>
          <a:sy n="69" d="100"/>
        </p:scale>
        <p:origin x="1954"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04-04-2026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6431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C5139-1AFF-D3A0-DDED-EC44904EB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CAA4A-8CBD-6631-C71D-AC4F63D9D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0C2C8-43BC-835F-52A1-5BF2FAEB5E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BC6ACFE-808B-4C46-05B5-18378E07F9DF}"/>
              </a:ext>
            </a:extLst>
          </p:cNvPr>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1098854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16</a:t>
            </a:fld>
            <a:endParaRPr lang="en-IN"/>
          </a:p>
        </p:txBody>
      </p:sp>
    </p:spTree>
    <p:extLst>
      <p:ext uri="{BB962C8B-B14F-4D97-AF65-F5344CB8AC3E}">
        <p14:creationId xmlns:p14="http://schemas.microsoft.com/office/powerpoint/2010/main" val="918734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4/4/2026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hyperlink" Target="https://docs.oracle.com/javase" TargetMode="External"/><Relationship Id="rId7" Type="http://schemas.openxmlformats.org/officeDocument/2006/relationships/image" Target="../media/image8.png"/><Relationship Id="rId2" Type="http://schemas.openxmlformats.org/officeDocument/2006/relationships/hyperlink" Target="https://docs.oracle.com/"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hyperlink" Target="https://www.w3schools.com/java/"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23718" y="2462355"/>
            <a:ext cx="8751412" cy="3250890"/>
          </a:xfrm>
          <a:prstGeom prst="rect">
            <a:avLst/>
          </a:prstGeom>
        </p:spPr>
        <p:txBody>
          <a:bodyPr vert="horz" wrap="square" lIns="0" tIns="16510" rIns="0" bIns="0" rtlCol="0">
            <a:spAutoFit/>
          </a:bodyPr>
          <a:lstStyle/>
          <a:p>
            <a:pPr algn="ctr">
              <a:lnSpc>
                <a:spcPct val="100000"/>
              </a:lnSpc>
              <a:spcBef>
                <a:spcPts val="130"/>
              </a:spcBef>
            </a:pPr>
            <a:r>
              <a:rPr lang="en-IN" sz="2400" dirty="0"/>
              <a:t>ONLINE SHOPPING CART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r>
              <a:rPr lang="en-IN" dirty="0"/>
              <a:t>M.SYAM PRASAD(25B21CS018).</a:t>
            </a:r>
            <a:endParaRPr lang="en-IN" sz="2000" dirty="0"/>
          </a:p>
          <a:p>
            <a:pPr algn="ctr"/>
            <a:r>
              <a:rPr lang="en-IN" dirty="0"/>
              <a:t>P.PRABHAS(24B11CS338). </a:t>
            </a:r>
            <a:endParaRPr lang="en-IN" sz="2000" dirty="0"/>
          </a:p>
          <a:p>
            <a:pPr algn="ctr"/>
            <a:r>
              <a:rPr lang="en-IN" dirty="0"/>
              <a:t>K. SATHEESH KUMAR(24B11CS473).</a:t>
            </a:r>
            <a:endParaRPr lang="en-IN" sz="2000" dirty="0"/>
          </a:p>
          <a:p>
            <a:pPr algn="ctr"/>
            <a:r>
              <a:rPr lang="en-IN" dirty="0"/>
              <a:t>DARLINGTON CHINOKWETU (24B11CS538).</a:t>
            </a: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Computer Science and Engineering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6070" y="-27503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485061" y="29650"/>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05243" y="111952"/>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457200" y="275007"/>
            <a:ext cx="8610600" cy="8156848"/>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Online Shopping Cart System is a comprehensive software application designed to provide a digital marketplace experience within a desktop environment. Traditionally, shopping involved physical presence, manual inventory tracking, and paper -based billing, which was time - consuming and prone to human errors.</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project provides a robust solution developed using Java (Swing) for the user interface and Oracle Database for persistent storage. The application facilitates core retail functions including user authentication, real-  time product browsing, dynamic cart management, and automated invoice generation. By utilizing JDBC ( Java Database Connectivity), the system ensures that inventory levels are updated instantly upon purchase. This report details the full software development life cycle (SDLC) of the system, including requirement analysis, database schema design, system architecture, and final implementation results.</a:t>
            </a:r>
          </a:p>
          <a:p>
            <a:pPr marL="342900" indent="-342900" algn="just">
              <a:lnSpc>
                <a:spcPct val="150000"/>
              </a:lnSpc>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358598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retail industry has undergone a massive transformation with the advent of digital technology. An Online Shopping Cart system is the backbone of any e - commerce platform. It allows users to select products, review their choices, and proceed to a checkout process. While most modern systems are web -based, this project focuses on a high - performance desktop application model using Java, which is ideal for dedicated kiosks or internal retail management systems.</a:t>
            </a:r>
            <a:endParaRPr lang="en-IN" sz="2000" dirty="0"/>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322610"/>
            <a:ext cx="8534400" cy="5201424"/>
          </a:xfrm>
          <a:prstGeom prst="rect">
            <a:avLst/>
          </a:prstGeom>
          <a:noFill/>
        </p:spPr>
        <p:txBody>
          <a:bodyPr wrap="square" rtlCol="0">
            <a:spAutoFit/>
          </a:bodyPr>
          <a:lstStyle/>
          <a:p>
            <a:pPr algn="just">
              <a:spcBef>
                <a:spcPts val="1200"/>
              </a:spcBef>
            </a:pPr>
            <a:r>
              <a:rPr lang="en-US" sz="2400" b="1" dirty="0">
                <a:latin typeface="Times New Roman" panose="02020603050405020304" pitchFamily="18" charset="0"/>
                <a:cs typeface="Times New Roman" panose="02020603050405020304" pitchFamily="18" charset="0"/>
              </a:rPr>
              <a:t>• User Authentication: </a:t>
            </a:r>
            <a:r>
              <a:rPr lang="en-US" sz="2400" dirty="0">
                <a:latin typeface="Times New Roman" panose="02020603050405020304" pitchFamily="18" charset="0"/>
                <a:cs typeface="Times New Roman" panose="02020603050405020304" pitchFamily="18" charset="0"/>
              </a:rPr>
              <a:t>Users must sign in to access the cart.</a:t>
            </a:r>
          </a:p>
          <a:p>
            <a:pPr algn="just">
              <a:spcBef>
                <a:spcPts val="1200"/>
              </a:spcBef>
            </a:pP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Product Management</a:t>
            </a:r>
            <a:r>
              <a:rPr lang="en-US" sz="2400" dirty="0">
                <a:latin typeface="Times New Roman" panose="02020603050405020304" pitchFamily="18" charset="0"/>
                <a:cs typeface="Times New Roman" panose="02020603050405020304" pitchFamily="18" charset="0"/>
              </a:rPr>
              <a:t>: Admin can add, update, or delete products.</a:t>
            </a:r>
          </a:p>
          <a:p>
            <a:pPr algn="just">
              <a:spcBef>
                <a:spcPts val="1200"/>
              </a:spcBef>
            </a:pP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Search Functionality</a:t>
            </a:r>
            <a:r>
              <a:rPr lang="en-US" sz="2400" dirty="0">
                <a:latin typeface="Times New Roman" panose="02020603050405020304" pitchFamily="18" charset="0"/>
                <a:cs typeface="Times New Roman" panose="02020603050405020304" pitchFamily="18" charset="0"/>
              </a:rPr>
              <a:t>: Users can search products by name or category.</a:t>
            </a:r>
          </a:p>
          <a:p>
            <a:pPr algn="just">
              <a:spcBef>
                <a:spcPts val="1200"/>
              </a:spcBef>
            </a:pP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Cart Operations </a:t>
            </a:r>
            <a:r>
              <a:rPr lang="en-US" sz="2400" dirty="0">
                <a:latin typeface="Times New Roman" panose="02020603050405020304" pitchFamily="18" charset="0"/>
                <a:cs typeface="Times New Roman" panose="02020603050405020304" pitchFamily="18" charset="0"/>
              </a:rPr>
              <a:t>: Add to cart, view total, and clear cart  functionality.</a:t>
            </a:r>
          </a:p>
          <a:p>
            <a:pPr algn="just">
              <a:spcBef>
                <a:spcPts val="1200"/>
              </a:spcBef>
            </a:pP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Checkout</a:t>
            </a:r>
            <a:r>
              <a:rPr lang="en-US" sz="2400" dirty="0">
                <a:latin typeface="Times New Roman" panose="02020603050405020304" pitchFamily="18" charset="0"/>
                <a:cs typeface="Times New Roman" panose="02020603050405020304" pitchFamily="18" charset="0"/>
              </a:rPr>
              <a:t>: Transactional commitment of the purchase to the database.</a:t>
            </a:r>
          </a:p>
          <a:p>
            <a:pPr algn="just">
              <a:spcBef>
                <a:spcPts val="1200"/>
              </a:spcBef>
            </a:pPr>
            <a:r>
              <a:rPr lang="en-US" sz="2400" dirty="0">
                <a:latin typeface="Times New Roman" panose="02020603050405020304" pitchFamily="18" charset="0"/>
                <a:cs typeface="Times New Roman" panose="02020603050405020304" pitchFamily="18" charset="0"/>
              </a:rPr>
              <a:t>3</a:t>
            </a:r>
          </a:p>
          <a:p>
            <a:pPr algn="just">
              <a:spcBef>
                <a:spcPts val="1200"/>
              </a:spcBef>
            </a:pPr>
            <a:endParaRPr lang="en-US" sz="2400" dirty="0">
              <a:latin typeface="Times New Roman" panose="02020603050405020304" pitchFamily="18" charset="0"/>
              <a:cs typeface="Times New Roman" panose="02020603050405020304" pitchFamily="18" charset="0"/>
            </a:endParaRPr>
          </a:p>
          <a:p>
            <a:pPr algn="just">
              <a:spcBef>
                <a:spcPts val="1200"/>
              </a:spcBef>
            </a:pPr>
            <a:endParaRPr lang="en-US" sz="22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987471" y="1053128"/>
            <a:ext cx="8305800" cy="6633354"/>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Java (JDK 8 or above)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VS Code / Eclipse / IntelliJ IDEA</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Database: MySQL</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(for version control)</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1008237" y="1538820"/>
            <a:ext cx="8377614" cy="3524042"/>
          </a:xfrm>
          <a:prstGeom prst="rect">
            <a:avLst/>
          </a:prstGeom>
          <a:noFill/>
        </p:spPr>
        <p:txBody>
          <a:bodyPr wrap="none" rtlCol="0">
            <a:spAutoFit/>
          </a:bodyPr>
          <a:lstStyle/>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uses a relational database to store  information efficiently.</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consists of the following tables:</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Orders Table </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Products Table</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Users Table</a:t>
            </a:r>
          </a:p>
          <a:p>
            <a:endParaRPr lang="en-IN" dirty="0"/>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FE3A23-6F7A-9CD3-0012-E9E7C7331AAD}"/>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DB0D226A-4905-9A23-644C-CE3991C38936}"/>
              </a:ext>
            </a:extLst>
          </p:cNvPr>
          <p:cNvSpPr txBox="1"/>
          <p:nvPr/>
        </p:nvSpPr>
        <p:spPr>
          <a:xfrm>
            <a:off x="533400" y="2005523"/>
            <a:ext cx="8366948" cy="923330"/>
          </a:xfrm>
          <a:prstGeom prst="rect">
            <a:avLst/>
          </a:prstGeom>
          <a:noFill/>
        </p:spPr>
        <p:txBody>
          <a:bodyPr wrap="square">
            <a:spAutoFit/>
          </a:bodyPr>
          <a:lstStyle/>
          <a:p>
            <a:r>
              <a:rPr lang="en-IN" b="1" dirty="0"/>
              <a:t>Users Table:</a:t>
            </a:r>
          </a:p>
          <a:p>
            <a:r>
              <a:rPr lang="en-US" dirty="0"/>
              <a:t>			Stores Users Information (</a:t>
            </a:r>
            <a:r>
              <a:rPr lang="en-US" dirty="0" err="1"/>
              <a:t>Email,Username</a:t>
            </a:r>
            <a:r>
              <a:rPr lang="en-US" dirty="0"/>
              <a:t>, Phone) </a:t>
            </a:r>
            <a:r>
              <a:rPr lang="en-US" dirty="0" err="1"/>
              <a:t>etc</a:t>
            </a:r>
            <a:endParaRPr lang="en-IN" b="1" dirty="0"/>
          </a:p>
        </p:txBody>
      </p:sp>
      <p:graphicFrame>
        <p:nvGraphicFramePr>
          <p:cNvPr id="15" name="Table 14">
            <a:extLst>
              <a:ext uri="{FF2B5EF4-FFF2-40B4-BE49-F238E27FC236}">
                <a16:creationId xmlns:a16="http://schemas.microsoft.com/office/drawing/2014/main" id="{7A2EBB8D-ECD5-E1A2-413F-793969B568BB}"/>
              </a:ext>
            </a:extLst>
          </p:cNvPr>
          <p:cNvGraphicFramePr>
            <a:graphicFrameLocks noGrp="1"/>
          </p:cNvGraphicFramePr>
          <p:nvPr>
            <p:extLst>
              <p:ext uri="{D42A27DB-BD31-4B8C-83A1-F6EECF244321}">
                <p14:modId xmlns:p14="http://schemas.microsoft.com/office/powerpoint/2010/main" val="2224719273"/>
              </p:ext>
            </p:extLst>
          </p:nvPr>
        </p:nvGraphicFramePr>
        <p:xfrm>
          <a:off x="1453752" y="3007008"/>
          <a:ext cx="7919632" cy="4167238"/>
        </p:xfrm>
        <a:graphic>
          <a:graphicData uri="http://schemas.openxmlformats.org/drawingml/2006/table">
            <a:tbl>
              <a:tblPr firstRow="1" bandRow="1">
                <a:tableStyleId>{5C22544A-7EE6-4342-B048-85BDC9FD1C3A}</a:tableStyleId>
              </a:tblPr>
              <a:tblGrid>
                <a:gridCol w="1979908">
                  <a:extLst>
                    <a:ext uri="{9D8B030D-6E8A-4147-A177-3AD203B41FA5}">
                      <a16:colId xmlns:a16="http://schemas.microsoft.com/office/drawing/2014/main" val="2565518768"/>
                    </a:ext>
                  </a:extLst>
                </a:gridCol>
                <a:gridCol w="1979908">
                  <a:extLst>
                    <a:ext uri="{9D8B030D-6E8A-4147-A177-3AD203B41FA5}">
                      <a16:colId xmlns:a16="http://schemas.microsoft.com/office/drawing/2014/main" val="1063026024"/>
                    </a:ext>
                  </a:extLst>
                </a:gridCol>
                <a:gridCol w="1979908">
                  <a:extLst>
                    <a:ext uri="{9D8B030D-6E8A-4147-A177-3AD203B41FA5}">
                      <a16:colId xmlns:a16="http://schemas.microsoft.com/office/drawing/2014/main" val="2318603987"/>
                    </a:ext>
                  </a:extLst>
                </a:gridCol>
                <a:gridCol w="1979908">
                  <a:extLst>
                    <a:ext uri="{9D8B030D-6E8A-4147-A177-3AD203B41FA5}">
                      <a16:colId xmlns:a16="http://schemas.microsoft.com/office/drawing/2014/main" val="4086323780"/>
                    </a:ext>
                  </a:extLst>
                </a:gridCol>
              </a:tblGrid>
              <a:tr h="580550">
                <a:tc>
                  <a:txBody>
                    <a:bodyPr/>
                    <a:lstStyle/>
                    <a:p>
                      <a:pPr>
                        <a:buNone/>
                      </a:pPr>
                      <a:r>
                        <a:rPr lang="en-IN" dirty="0"/>
                        <a:t>Field Name</a:t>
                      </a:r>
                    </a:p>
                  </a:txBody>
                  <a:tcPr anchor="ctr"/>
                </a:tc>
                <a:tc>
                  <a:txBody>
                    <a:bodyPr/>
                    <a:lstStyle/>
                    <a:p>
                      <a:pPr>
                        <a:buNone/>
                      </a:pPr>
                      <a:r>
                        <a:rPr lang="en-IN"/>
                        <a:t>Data Type</a:t>
                      </a:r>
                    </a:p>
                  </a:txBody>
                  <a:tcPr anchor="ctr"/>
                </a:tc>
                <a:tc>
                  <a:txBody>
                    <a:bodyPr/>
                    <a:lstStyle/>
                    <a:p>
                      <a:pPr>
                        <a:buNone/>
                      </a:pPr>
                      <a:r>
                        <a:rPr lang="en-IN" dirty="0"/>
                        <a:t>Key</a:t>
                      </a:r>
                    </a:p>
                  </a:txBody>
                  <a:tcPr anchor="ctr"/>
                </a:tc>
                <a:tc>
                  <a:txBody>
                    <a:bodyPr/>
                    <a:lstStyle/>
                    <a:p>
                      <a:pPr>
                        <a:buNone/>
                      </a:pPr>
                      <a:r>
                        <a:rPr lang="en-IN" dirty="0"/>
                        <a:t>Description</a:t>
                      </a:r>
                    </a:p>
                  </a:txBody>
                  <a:tcPr anchor="ctr"/>
                </a:tc>
                <a:extLst>
                  <a:ext uri="{0D108BD9-81ED-4DB2-BD59-A6C34878D82A}">
                    <a16:rowId xmlns:a16="http://schemas.microsoft.com/office/drawing/2014/main" val="777565158"/>
                  </a:ext>
                </a:extLst>
              </a:tr>
              <a:tr h="580550">
                <a:tc>
                  <a:txBody>
                    <a:bodyPr/>
                    <a:lstStyle/>
                    <a:p>
                      <a:pPr>
                        <a:buNone/>
                      </a:pPr>
                      <a:r>
                        <a:rPr lang="en-IN" dirty="0" err="1"/>
                        <a:t>userID</a:t>
                      </a:r>
                      <a:endParaRPr lang="en-IN" dirty="0"/>
                    </a:p>
                  </a:txBody>
                  <a:tcPr anchor="ctr"/>
                </a:tc>
                <a:tc>
                  <a:txBody>
                    <a:bodyPr/>
                    <a:lstStyle/>
                    <a:p>
                      <a:pPr>
                        <a:buNone/>
                      </a:pPr>
                      <a:r>
                        <a:rPr lang="en-IN" dirty="0"/>
                        <a:t>INT</a:t>
                      </a:r>
                    </a:p>
                  </a:txBody>
                  <a:tcPr anchor="ctr"/>
                </a:tc>
                <a:tc>
                  <a:txBody>
                    <a:bodyPr/>
                    <a:lstStyle/>
                    <a:p>
                      <a:pPr>
                        <a:buNone/>
                      </a:pPr>
                      <a:r>
                        <a:rPr lang="en-IN" dirty="0"/>
                        <a:t>Primary Key</a:t>
                      </a:r>
                    </a:p>
                  </a:txBody>
                  <a:tcPr anchor="ctr"/>
                </a:tc>
                <a:tc>
                  <a:txBody>
                    <a:bodyPr/>
                    <a:lstStyle/>
                    <a:p>
                      <a:pPr>
                        <a:buNone/>
                      </a:pPr>
                      <a:r>
                        <a:rPr lang="en-ZA" dirty="0"/>
                        <a:t>U</a:t>
                      </a:r>
                      <a:r>
                        <a:rPr lang="en-IN" dirty="0"/>
                        <a:t>ser ID</a:t>
                      </a:r>
                    </a:p>
                  </a:txBody>
                  <a:tcPr anchor="ctr"/>
                </a:tc>
                <a:extLst>
                  <a:ext uri="{0D108BD9-81ED-4DB2-BD59-A6C34878D82A}">
                    <a16:rowId xmlns:a16="http://schemas.microsoft.com/office/drawing/2014/main" val="3144488007"/>
                  </a:ext>
                </a:extLst>
              </a:tr>
              <a:tr h="1002046">
                <a:tc>
                  <a:txBody>
                    <a:bodyPr/>
                    <a:lstStyle/>
                    <a:p>
                      <a:pPr>
                        <a:buNone/>
                      </a:pPr>
                      <a:r>
                        <a:rPr lang="en-ZA" dirty="0"/>
                        <a:t>U</a:t>
                      </a:r>
                      <a:r>
                        <a:rPr lang="en-IN" dirty="0" err="1"/>
                        <a:t>sername</a:t>
                      </a:r>
                      <a:endParaRPr lang="en-IN" dirty="0"/>
                    </a:p>
                  </a:txBody>
                  <a:tcPr anchor="ctr"/>
                </a:tc>
                <a:tc>
                  <a:txBody>
                    <a:bodyPr/>
                    <a:lstStyle/>
                    <a:p>
                      <a:pPr>
                        <a:buNone/>
                      </a:pPr>
                      <a:r>
                        <a:rPr lang="en-IN" dirty="0"/>
                        <a:t>VARCHAR(50)</a:t>
                      </a:r>
                    </a:p>
                  </a:txBody>
                  <a:tcPr anchor="ctr"/>
                </a:tc>
                <a:tc>
                  <a:txBody>
                    <a:bodyPr/>
                    <a:lstStyle/>
                    <a:p>
                      <a:pPr>
                        <a:buNone/>
                      </a:pPr>
                      <a:r>
                        <a:rPr lang="en-IN"/>
                        <a:t>—</a:t>
                      </a:r>
                    </a:p>
                  </a:txBody>
                  <a:tcPr anchor="ctr"/>
                </a:tc>
                <a:tc>
                  <a:txBody>
                    <a:bodyPr/>
                    <a:lstStyle/>
                    <a:p>
                      <a:pPr>
                        <a:buNone/>
                      </a:pPr>
                      <a:r>
                        <a:rPr lang="en-ZA" dirty="0"/>
                        <a:t>U</a:t>
                      </a:r>
                      <a:r>
                        <a:rPr lang="en-IN" dirty="0" err="1"/>
                        <a:t>sername</a:t>
                      </a:r>
                      <a:endParaRPr lang="en-IN" dirty="0"/>
                    </a:p>
                  </a:txBody>
                  <a:tcPr anchor="ctr"/>
                </a:tc>
                <a:extLst>
                  <a:ext uri="{0D108BD9-81ED-4DB2-BD59-A6C34878D82A}">
                    <a16:rowId xmlns:a16="http://schemas.microsoft.com/office/drawing/2014/main" val="2379907431"/>
                  </a:ext>
                </a:extLst>
              </a:tr>
              <a:tr h="1002046">
                <a:tc>
                  <a:txBody>
                    <a:bodyPr/>
                    <a:lstStyle/>
                    <a:p>
                      <a:pPr>
                        <a:buNone/>
                      </a:pPr>
                      <a:r>
                        <a:rPr lang="en-ZA" dirty="0"/>
                        <a:t>P</a:t>
                      </a:r>
                      <a:r>
                        <a:rPr lang="en-IN" dirty="0" err="1"/>
                        <a:t>assword</a:t>
                      </a:r>
                      <a:endParaRPr lang="en-IN" dirty="0"/>
                    </a:p>
                  </a:txBody>
                  <a:tcPr anchor="ctr"/>
                </a:tc>
                <a:tc>
                  <a:txBody>
                    <a:bodyPr/>
                    <a:lstStyle/>
                    <a:p>
                      <a:pPr>
                        <a:buNone/>
                      </a:pPr>
                      <a:r>
                        <a:rPr lang="en-IN" dirty="0"/>
                        <a:t>VARCHAR(200)</a:t>
                      </a:r>
                    </a:p>
                  </a:txBody>
                  <a:tcPr anchor="ctr"/>
                </a:tc>
                <a:tc>
                  <a:txBody>
                    <a:bodyPr/>
                    <a:lstStyle/>
                    <a:p>
                      <a:pPr>
                        <a:buNone/>
                      </a:pPr>
                      <a:r>
                        <a:rPr lang="en-IN" dirty="0"/>
                        <a:t>—</a:t>
                      </a:r>
                    </a:p>
                  </a:txBody>
                  <a:tcPr anchor="ctr"/>
                </a:tc>
                <a:tc>
                  <a:txBody>
                    <a:bodyPr/>
                    <a:lstStyle/>
                    <a:p>
                      <a:pPr>
                        <a:buNone/>
                      </a:pPr>
                      <a:r>
                        <a:rPr lang="en-ZA" dirty="0"/>
                        <a:t>P</a:t>
                      </a:r>
                      <a:r>
                        <a:rPr lang="en-IN" dirty="0" err="1"/>
                        <a:t>assword</a:t>
                      </a:r>
                      <a:endParaRPr lang="en-IN" dirty="0"/>
                    </a:p>
                  </a:txBody>
                  <a:tcPr anchor="ctr"/>
                </a:tc>
                <a:extLst>
                  <a:ext uri="{0D108BD9-81ED-4DB2-BD59-A6C34878D82A}">
                    <a16:rowId xmlns:a16="http://schemas.microsoft.com/office/drawing/2014/main" val="1832366527"/>
                  </a:ext>
                </a:extLst>
              </a:tr>
              <a:tr h="1002046">
                <a:tc>
                  <a:txBody>
                    <a:bodyPr/>
                    <a:lstStyle/>
                    <a:p>
                      <a:pPr>
                        <a:buNone/>
                      </a:pPr>
                      <a:r>
                        <a:rPr lang="en-ZA" dirty="0"/>
                        <a:t>Email</a:t>
                      </a:r>
                      <a:endParaRPr lang="en-IN" dirty="0"/>
                    </a:p>
                  </a:txBody>
                  <a:tcPr anchor="ctr"/>
                </a:tc>
                <a:tc>
                  <a:txBody>
                    <a:bodyPr/>
                    <a:lstStyle/>
                    <a:p>
                      <a:pPr>
                        <a:buNone/>
                      </a:pPr>
                      <a:r>
                        <a:rPr lang="en-ZA" dirty="0"/>
                        <a:t>VARCHAR(255)</a:t>
                      </a:r>
                      <a:endParaRPr lang="en-IN" dirty="0"/>
                    </a:p>
                  </a:txBody>
                  <a:tcPr anchor="ctr"/>
                </a:tc>
                <a:tc>
                  <a:txBody>
                    <a:bodyPr/>
                    <a:lstStyle/>
                    <a:p>
                      <a:pPr>
                        <a:buNone/>
                      </a:pPr>
                      <a:r>
                        <a:rPr lang="en-ZA" dirty="0"/>
                        <a:t>___</a:t>
                      </a:r>
                      <a:endParaRPr lang="en-IN" dirty="0"/>
                    </a:p>
                  </a:txBody>
                  <a:tcPr anchor="ctr"/>
                </a:tc>
                <a:tc>
                  <a:txBody>
                    <a:bodyPr/>
                    <a:lstStyle/>
                    <a:p>
                      <a:pPr>
                        <a:buNone/>
                      </a:pPr>
                      <a:r>
                        <a:rPr lang="en-ZA" dirty="0"/>
                        <a:t>Email </a:t>
                      </a:r>
                      <a:endParaRPr lang="en-IN" dirty="0"/>
                    </a:p>
                  </a:txBody>
                  <a:tcPr anchor="ctr"/>
                </a:tc>
                <a:extLst>
                  <a:ext uri="{0D108BD9-81ED-4DB2-BD59-A6C34878D82A}">
                    <a16:rowId xmlns:a16="http://schemas.microsoft.com/office/drawing/2014/main" val="2086851243"/>
                  </a:ext>
                </a:extLst>
              </a:tr>
            </a:tbl>
          </a:graphicData>
        </a:graphic>
      </p:graphicFrame>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D205DEE-CF0B-DBC2-E5CD-2C4FB4661C9F}"/>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2B7D6DA8-89F8-4CB4-20B5-36719C763BE0}"/>
              </a:ext>
            </a:extLst>
          </p:cNvPr>
          <p:cNvSpPr txBox="1"/>
          <p:nvPr/>
        </p:nvSpPr>
        <p:spPr>
          <a:xfrm>
            <a:off x="533400" y="2005523"/>
            <a:ext cx="8366948" cy="646331"/>
          </a:xfrm>
          <a:prstGeom prst="rect">
            <a:avLst/>
          </a:prstGeom>
          <a:noFill/>
        </p:spPr>
        <p:txBody>
          <a:bodyPr wrap="square">
            <a:spAutoFit/>
          </a:bodyPr>
          <a:lstStyle/>
          <a:p>
            <a:r>
              <a:rPr lang="en-IN" b="1" dirty="0"/>
              <a:t>Products:</a:t>
            </a:r>
          </a:p>
          <a:p>
            <a:r>
              <a:rPr lang="en-US" dirty="0"/>
              <a:t>	</a:t>
            </a:r>
            <a:r>
              <a:rPr lang="en-IN" dirty="0"/>
              <a:t>Stores Products (</a:t>
            </a:r>
            <a:r>
              <a:rPr lang="en-IN" dirty="0" err="1"/>
              <a:t>ProdID,Prod_Name,etc</a:t>
            </a:r>
            <a:r>
              <a:rPr lang="en-IN" dirty="0"/>
              <a:t>.)</a:t>
            </a:r>
            <a:endParaRPr lang="en-IN" b="1" dirty="0"/>
          </a:p>
        </p:txBody>
      </p:sp>
      <p:graphicFrame>
        <p:nvGraphicFramePr>
          <p:cNvPr id="15" name="Table 14">
            <a:extLst>
              <a:ext uri="{FF2B5EF4-FFF2-40B4-BE49-F238E27FC236}">
                <a16:creationId xmlns:a16="http://schemas.microsoft.com/office/drawing/2014/main" id="{C4CD2BA1-FBEB-D591-1D32-2516A6652B92}"/>
              </a:ext>
            </a:extLst>
          </p:cNvPr>
          <p:cNvGraphicFramePr>
            <a:graphicFrameLocks noGrp="1"/>
          </p:cNvGraphicFramePr>
          <p:nvPr>
            <p:extLst>
              <p:ext uri="{D42A27DB-BD31-4B8C-83A1-F6EECF244321}">
                <p14:modId xmlns:p14="http://schemas.microsoft.com/office/powerpoint/2010/main" val="4090480191"/>
              </p:ext>
            </p:extLst>
          </p:nvPr>
        </p:nvGraphicFramePr>
        <p:xfrm>
          <a:off x="1219200" y="3007008"/>
          <a:ext cx="8077984" cy="4492407"/>
        </p:xfrm>
        <a:graphic>
          <a:graphicData uri="http://schemas.openxmlformats.org/drawingml/2006/table">
            <a:tbl>
              <a:tblPr firstRow="1" bandRow="1">
                <a:tableStyleId>{5C22544A-7EE6-4342-B048-85BDC9FD1C3A}</a:tableStyleId>
              </a:tblPr>
              <a:tblGrid>
                <a:gridCol w="2019496">
                  <a:extLst>
                    <a:ext uri="{9D8B030D-6E8A-4147-A177-3AD203B41FA5}">
                      <a16:colId xmlns:a16="http://schemas.microsoft.com/office/drawing/2014/main" val="2565518768"/>
                    </a:ext>
                  </a:extLst>
                </a:gridCol>
                <a:gridCol w="2019496">
                  <a:extLst>
                    <a:ext uri="{9D8B030D-6E8A-4147-A177-3AD203B41FA5}">
                      <a16:colId xmlns:a16="http://schemas.microsoft.com/office/drawing/2014/main" val="1063026024"/>
                    </a:ext>
                  </a:extLst>
                </a:gridCol>
                <a:gridCol w="2019496">
                  <a:extLst>
                    <a:ext uri="{9D8B030D-6E8A-4147-A177-3AD203B41FA5}">
                      <a16:colId xmlns:a16="http://schemas.microsoft.com/office/drawing/2014/main" val="2318603987"/>
                    </a:ext>
                  </a:extLst>
                </a:gridCol>
                <a:gridCol w="2019496">
                  <a:extLst>
                    <a:ext uri="{9D8B030D-6E8A-4147-A177-3AD203B41FA5}">
                      <a16:colId xmlns:a16="http://schemas.microsoft.com/office/drawing/2014/main" val="4086323780"/>
                    </a:ext>
                  </a:extLst>
                </a:gridCol>
              </a:tblGrid>
              <a:tr h="625851">
                <a:tc>
                  <a:txBody>
                    <a:bodyPr/>
                    <a:lstStyle/>
                    <a:p>
                      <a:pPr>
                        <a:buNone/>
                      </a:pPr>
                      <a:r>
                        <a:rPr lang="en-IN"/>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777565158"/>
                  </a:ext>
                </a:extLst>
              </a:tr>
              <a:tr h="625851">
                <a:tc>
                  <a:txBody>
                    <a:bodyPr/>
                    <a:lstStyle/>
                    <a:p>
                      <a:pPr>
                        <a:buNone/>
                      </a:pPr>
                      <a:r>
                        <a:rPr lang="en-ZA" dirty="0"/>
                        <a:t>P</a:t>
                      </a:r>
                      <a:r>
                        <a:rPr lang="en-IN" dirty="0" err="1"/>
                        <a:t>rod_id</a:t>
                      </a:r>
                      <a:endParaRPr lang="en-IN" dirty="0"/>
                    </a:p>
                  </a:txBody>
                  <a:tcPr anchor="ctr"/>
                </a:tc>
                <a:tc>
                  <a:txBody>
                    <a:bodyPr/>
                    <a:lstStyle/>
                    <a:p>
                      <a:pPr>
                        <a:buNone/>
                      </a:pPr>
                      <a:r>
                        <a:rPr lang="en-IN" dirty="0"/>
                        <a:t>INT</a:t>
                      </a:r>
                    </a:p>
                  </a:txBody>
                  <a:tcPr anchor="ctr"/>
                </a:tc>
                <a:tc>
                  <a:txBody>
                    <a:bodyPr/>
                    <a:lstStyle/>
                    <a:p>
                      <a:pPr>
                        <a:buNone/>
                      </a:pPr>
                      <a:r>
                        <a:rPr lang="en-IN"/>
                        <a:t>Primary Key</a:t>
                      </a:r>
                    </a:p>
                  </a:txBody>
                  <a:tcPr anchor="ctr"/>
                </a:tc>
                <a:tc>
                  <a:txBody>
                    <a:bodyPr/>
                    <a:lstStyle/>
                    <a:p>
                      <a:pPr>
                        <a:buNone/>
                      </a:pPr>
                      <a:r>
                        <a:rPr lang="en-ZA" dirty="0"/>
                        <a:t>U</a:t>
                      </a:r>
                      <a:r>
                        <a:rPr lang="en-IN" dirty="0" err="1"/>
                        <a:t>nique</a:t>
                      </a:r>
                      <a:r>
                        <a:rPr lang="en-IN" dirty="0"/>
                        <a:t> product id</a:t>
                      </a:r>
                    </a:p>
                  </a:txBody>
                  <a:tcPr anchor="ctr"/>
                </a:tc>
                <a:extLst>
                  <a:ext uri="{0D108BD9-81ED-4DB2-BD59-A6C34878D82A}">
                    <a16:rowId xmlns:a16="http://schemas.microsoft.com/office/drawing/2014/main" val="3144488007"/>
                  </a:ext>
                </a:extLst>
              </a:tr>
              <a:tr h="1080235">
                <a:tc>
                  <a:txBody>
                    <a:bodyPr/>
                    <a:lstStyle/>
                    <a:p>
                      <a:pPr>
                        <a:buNone/>
                      </a:pPr>
                      <a:r>
                        <a:rPr lang="en-ZA" dirty="0"/>
                        <a:t>P</a:t>
                      </a:r>
                      <a:r>
                        <a:rPr lang="en-IN" dirty="0" err="1"/>
                        <a:t>rod_name</a:t>
                      </a:r>
                      <a:endParaRPr lang="en-IN" dirty="0"/>
                    </a:p>
                  </a:txBody>
                  <a:tcPr anchor="ctr"/>
                </a:tc>
                <a:tc>
                  <a:txBody>
                    <a:bodyPr/>
                    <a:lstStyle/>
                    <a:p>
                      <a:pPr>
                        <a:buNone/>
                      </a:pPr>
                      <a:r>
                        <a:rPr lang="en-IN" dirty="0"/>
                        <a:t>VARCHAR(50)</a:t>
                      </a:r>
                    </a:p>
                  </a:txBody>
                  <a:tcPr anchor="ctr"/>
                </a:tc>
                <a:tc>
                  <a:txBody>
                    <a:bodyPr/>
                    <a:lstStyle/>
                    <a:p>
                      <a:pPr>
                        <a:buNone/>
                      </a:pPr>
                      <a:r>
                        <a:rPr lang="en-IN" dirty="0"/>
                        <a:t>—</a:t>
                      </a:r>
                    </a:p>
                  </a:txBody>
                  <a:tcPr anchor="ctr"/>
                </a:tc>
                <a:tc>
                  <a:txBody>
                    <a:bodyPr/>
                    <a:lstStyle/>
                    <a:p>
                      <a:pPr>
                        <a:buNone/>
                      </a:pPr>
                      <a:r>
                        <a:rPr lang="en-IN" dirty="0"/>
                        <a:t>Product name</a:t>
                      </a:r>
                    </a:p>
                  </a:txBody>
                  <a:tcPr anchor="ctr"/>
                </a:tc>
                <a:extLst>
                  <a:ext uri="{0D108BD9-81ED-4DB2-BD59-A6C34878D82A}">
                    <a16:rowId xmlns:a16="http://schemas.microsoft.com/office/drawing/2014/main" val="2379907431"/>
                  </a:ext>
                </a:extLst>
              </a:tr>
              <a:tr h="1080235">
                <a:tc>
                  <a:txBody>
                    <a:bodyPr/>
                    <a:lstStyle/>
                    <a:p>
                      <a:pPr>
                        <a:buNone/>
                      </a:pPr>
                      <a:r>
                        <a:rPr lang="en-ZA" dirty="0"/>
                        <a:t>Stock</a:t>
                      </a:r>
                      <a:endParaRPr lang="en-IN" dirty="0"/>
                    </a:p>
                  </a:txBody>
                  <a:tcPr anchor="ctr"/>
                </a:tc>
                <a:tc>
                  <a:txBody>
                    <a:bodyPr/>
                    <a:lstStyle/>
                    <a:p>
                      <a:pPr>
                        <a:buNone/>
                      </a:pPr>
                      <a:r>
                        <a:rPr lang="en-ZA" dirty="0"/>
                        <a:t>Number</a:t>
                      </a:r>
                      <a:endParaRPr lang="en-IN" dirty="0"/>
                    </a:p>
                  </a:txBody>
                  <a:tcPr anchor="ctr"/>
                </a:tc>
                <a:tc>
                  <a:txBody>
                    <a:bodyPr/>
                    <a:lstStyle/>
                    <a:p>
                      <a:pPr>
                        <a:buNone/>
                      </a:pPr>
                      <a:r>
                        <a:rPr lang="en-ZA" dirty="0"/>
                        <a:t>_</a:t>
                      </a:r>
                      <a:endParaRPr lang="en-IN" dirty="0"/>
                    </a:p>
                  </a:txBody>
                  <a:tcPr anchor="ctr"/>
                </a:tc>
                <a:tc>
                  <a:txBody>
                    <a:bodyPr/>
                    <a:lstStyle/>
                    <a:p>
                      <a:pPr>
                        <a:buNone/>
                      </a:pPr>
                      <a:r>
                        <a:rPr lang="en-ZA" dirty="0"/>
                        <a:t>Number of products </a:t>
                      </a:r>
                      <a:r>
                        <a:rPr lang="en-ZA" dirty="0" err="1"/>
                        <a:t>availabe</a:t>
                      </a:r>
                      <a:endParaRPr lang="en-IN" dirty="0"/>
                    </a:p>
                  </a:txBody>
                  <a:tcPr anchor="ctr"/>
                </a:tc>
                <a:extLst>
                  <a:ext uri="{0D108BD9-81ED-4DB2-BD59-A6C34878D82A}">
                    <a16:rowId xmlns:a16="http://schemas.microsoft.com/office/drawing/2014/main" val="3141043568"/>
                  </a:ext>
                </a:extLst>
              </a:tr>
              <a:tr h="1080235">
                <a:tc>
                  <a:txBody>
                    <a:bodyPr/>
                    <a:lstStyle/>
                    <a:p>
                      <a:pPr>
                        <a:buNone/>
                      </a:pPr>
                      <a:r>
                        <a:rPr lang="en-IN" dirty="0"/>
                        <a:t>Price</a:t>
                      </a:r>
                    </a:p>
                  </a:txBody>
                  <a:tcPr anchor="ctr"/>
                </a:tc>
                <a:tc>
                  <a:txBody>
                    <a:bodyPr/>
                    <a:lstStyle/>
                    <a:p>
                      <a:pPr>
                        <a:buNone/>
                      </a:pPr>
                      <a:r>
                        <a:rPr lang="en-ZA" dirty="0"/>
                        <a:t>N</a:t>
                      </a:r>
                      <a:r>
                        <a:rPr lang="en-IN" dirty="0"/>
                        <a:t>umber(10,2)</a:t>
                      </a:r>
                    </a:p>
                  </a:txBody>
                  <a:tcPr anchor="ctr"/>
                </a:tc>
                <a:tc>
                  <a:txBody>
                    <a:bodyPr/>
                    <a:lstStyle/>
                    <a:p>
                      <a:pPr>
                        <a:buNone/>
                      </a:pPr>
                      <a:r>
                        <a:rPr lang="en-IN" dirty="0"/>
                        <a:t>—</a:t>
                      </a:r>
                    </a:p>
                  </a:txBody>
                  <a:tcPr anchor="ctr"/>
                </a:tc>
                <a:tc>
                  <a:txBody>
                    <a:bodyPr/>
                    <a:lstStyle/>
                    <a:p>
                      <a:pPr>
                        <a:buNone/>
                      </a:pPr>
                      <a:r>
                        <a:rPr lang="en-IN" dirty="0"/>
                        <a:t>Price</a:t>
                      </a:r>
                    </a:p>
                  </a:txBody>
                  <a:tcPr anchor="ctr"/>
                </a:tc>
                <a:extLst>
                  <a:ext uri="{0D108BD9-81ED-4DB2-BD59-A6C34878D82A}">
                    <a16:rowId xmlns:a16="http://schemas.microsoft.com/office/drawing/2014/main" val="1832366527"/>
                  </a:ext>
                </a:extLst>
              </a:tr>
            </a:tbl>
          </a:graphicData>
        </a:graphic>
      </p:graphicFrame>
    </p:spTree>
    <p:extLst>
      <p:ext uri="{BB962C8B-B14F-4D97-AF65-F5344CB8AC3E}">
        <p14:creationId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88CC2DB0-515C-5729-13F5-411810B0A1D6}"/>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BE4EB3E5-F5F4-BFDA-2030-B081D8DD8B72}"/>
              </a:ext>
            </a:extLst>
          </p:cNvPr>
          <p:cNvSpPr txBox="1"/>
          <p:nvPr/>
        </p:nvSpPr>
        <p:spPr>
          <a:xfrm>
            <a:off x="533400" y="2005523"/>
            <a:ext cx="8366948" cy="646331"/>
          </a:xfrm>
          <a:prstGeom prst="rect">
            <a:avLst/>
          </a:prstGeom>
          <a:noFill/>
        </p:spPr>
        <p:txBody>
          <a:bodyPr wrap="square">
            <a:spAutoFit/>
          </a:bodyPr>
          <a:lstStyle/>
          <a:p>
            <a:r>
              <a:rPr lang="en-IN" b="1" dirty="0"/>
              <a:t>Orders Table:</a:t>
            </a:r>
          </a:p>
          <a:p>
            <a:r>
              <a:rPr lang="en-US" dirty="0"/>
              <a:t>		Stores the orders showing the status of the order.</a:t>
            </a:r>
            <a:endParaRPr lang="en-IN" b="1" dirty="0"/>
          </a:p>
        </p:txBody>
      </p:sp>
      <p:graphicFrame>
        <p:nvGraphicFramePr>
          <p:cNvPr id="3" name="Table 2">
            <a:extLst>
              <a:ext uri="{FF2B5EF4-FFF2-40B4-BE49-F238E27FC236}">
                <a16:creationId xmlns:a16="http://schemas.microsoft.com/office/drawing/2014/main" id="{31F6B0F5-0FDB-2059-BAAA-EC98BE885AE3}"/>
              </a:ext>
            </a:extLst>
          </p:cNvPr>
          <p:cNvGraphicFramePr>
            <a:graphicFrameLocks noGrp="1"/>
          </p:cNvGraphicFramePr>
          <p:nvPr>
            <p:extLst>
              <p:ext uri="{D42A27DB-BD31-4B8C-83A1-F6EECF244321}">
                <p14:modId xmlns:p14="http://schemas.microsoft.com/office/powerpoint/2010/main" val="1522085862"/>
              </p:ext>
            </p:extLst>
          </p:nvPr>
        </p:nvGraphicFramePr>
        <p:xfrm>
          <a:off x="1440742" y="2879663"/>
          <a:ext cx="7924800" cy="2307506"/>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843935576"/>
                    </a:ext>
                  </a:extLst>
                </a:gridCol>
                <a:gridCol w="1981200">
                  <a:extLst>
                    <a:ext uri="{9D8B030D-6E8A-4147-A177-3AD203B41FA5}">
                      <a16:colId xmlns:a16="http://schemas.microsoft.com/office/drawing/2014/main" val="435965065"/>
                    </a:ext>
                  </a:extLst>
                </a:gridCol>
                <a:gridCol w="1981200">
                  <a:extLst>
                    <a:ext uri="{9D8B030D-6E8A-4147-A177-3AD203B41FA5}">
                      <a16:colId xmlns:a16="http://schemas.microsoft.com/office/drawing/2014/main" val="508337157"/>
                    </a:ext>
                  </a:extLst>
                </a:gridCol>
                <a:gridCol w="1981200">
                  <a:extLst>
                    <a:ext uri="{9D8B030D-6E8A-4147-A177-3AD203B41FA5}">
                      <a16:colId xmlns:a16="http://schemas.microsoft.com/office/drawing/2014/main" val="1121942475"/>
                    </a:ext>
                  </a:extLst>
                </a:gridCol>
              </a:tblGrid>
              <a:tr h="578859">
                <a:tc>
                  <a:txBody>
                    <a:bodyPr/>
                    <a:lstStyle/>
                    <a:p>
                      <a:pPr>
                        <a:buNone/>
                      </a:pPr>
                      <a:r>
                        <a:rPr lang="en-IN" dirty="0"/>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1348740825"/>
                  </a:ext>
                </a:extLst>
              </a:tr>
              <a:tr h="578859">
                <a:tc>
                  <a:txBody>
                    <a:bodyPr/>
                    <a:lstStyle/>
                    <a:p>
                      <a:pPr>
                        <a:buNone/>
                      </a:pPr>
                      <a:r>
                        <a:rPr lang="en-ZA" dirty="0"/>
                        <a:t>O</a:t>
                      </a:r>
                      <a:r>
                        <a:rPr lang="en-IN" dirty="0" err="1"/>
                        <a:t>rder_id</a:t>
                      </a:r>
                      <a:endParaRPr lang="en-IN" dirty="0"/>
                    </a:p>
                  </a:txBody>
                  <a:tcPr anchor="ctr"/>
                </a:tc>
                <a:tc>
                  <a:txBody>
                    <a:bodyPr/>
                    <a:lstStyle/>
                    <a:p>
                      <a:pPr>
                        <a:buNone/>
                      </a:pPr>
                      <a:r>
                        <a:rPr lang="en-IN" dirty="0"/>
                        <a:t>INT</a:t>
                      </a:r>
                    </a:p>
                  </a:txBody>
                  <a:tcPr anchor="ctr"/>
                </a:tc>
                <a:tc>
                  <a:txBody>
                    <a:bodyPr/>
                    <a:lstStyle/>
                    <a:p>
                      <a:pPr>
                        <a:buNone/>
                      </a:pPr>
                      <a:r>
                        <a:rPr lang="en-IN" dirty="0"/>
                        <a:t>Primary Key</a:t>
                      </a:r>
                    </a:p>
                  </a:txBody>
                  <a:tcPr anchor="ctr"/>
                </a:tc>
                <a:tc>
                  <a:txBody>
                    <a:bodyPr/>
                    <a:lstStyle/>
                    <a:p>
                      <a:pPr>
                        <a:buNone/>
                      </a:pPr>
                      <a:r>
                        <a:rPr lang="en-IN" dirty="0"/>
                        <a:t>Order id</a:t>
                      </a:r>
                    </a:p>
                  </a:txBody>
                  <a:tcPr anchor="ctr"/>
                </a:tc>
                <a:extLst>
                  <a:ext uri="{0D108BD9-81ED-4DB2-BD59-A6C34878D82A}">
                    <a16:rowId xmlns:a16="http://schemas.microsoft.com/office/drawing/2014/main" val="793349371"/>
                  </a:ext>
                </a:extLst>
              </a:tr>
              <a:tr h="578859">
                <a:tc>
                  <a:txBody>
                    <a:bodyPr/>
                    <a:lstStyle/>
                    <a:p>
                      <a:pPr>
                        <a:buNone/>
                      </a:pPr>
                      <a:r>
                        <a:rPr lang="en-IN" dirty="0" err="1"/>
                        <a:t>Order_name</a:t>
                      </a:r>
                      <a:endParaRPr lang="en-IN" dirty="0"/>
                    </a:p>
                  </a:txBody>
                  <a:tcPr anchor="ctr"/>
                </a:tc>
                <a:tc>
                  <a:txBody>
                    <a:bodyPr/>
                    <a:lstStyle/>
                    <a:p>
                      <a:pPr>
                        <a:buNone/>
                      </a:pPr>
                      <a:r>
                        <a:rPr lang="en-IN" dirty="0"/>
                        <a:t>VARCHAR(100)</a:t>
                      </a:r>
                    </a:p>
                  </a:txBody>
                  <a:tcPr anchor="ctr"/>
                </a:tc>
                <a:tc>
                  <a:txBody>
                    <a:bodyPr/>
                    <a:lstStyle/>
                    <a:p>
                      <a:pPr>
                        <a:buNone/>
                      </a:pPr>
                      <a:r>
                        <a:rPr lang="en-IN" dirty="0"/>
                        <a:t>—</a:t>
                      </a:r>
                    </a:p>
                  </a:txBody>
                  <a:tcPr anchor="ctr"/>
                </a:tc>
                <a:tc>
                  <a:txBody>
                    <a:bodyPr/>
                    <a:lstStyle/>
                    <a:p>
                      <a:pPr>
                        <a:buNone/>
                      </a:pPr>
                      <a:r>
                        <a:rPr lang="en-IN" dirty="0"/>
                        <a:t>Name of the order</a:t>
                      </a:r>
                    </a:p>
                  </a:txBody>
                  <a:tcPr anchor="ctr"/>
                </a:tc>
                <a:extLst>
                  <a:ext uri="{0D108BD9-81ED-4DB2-BD59-A6C34878D82A}">
                    <a16:rowId xmlns:a16="http://schemas.microsoft.com/office/drawing/2014/main" val="1597805091"/>
                  </a:ext>
                </a:extLst>
              </a:tr>
              <a:tr h="570929">
                <a:tc>
                  <a:txBody>
                    <a:bodyPr/>
                    <a:lstStyle/>
                    <a:p>
                      <a:pPr>
                        <a:buNone/>
                      </a:pPr>
                      <a:r>
                        <a:rPr lang="en-IN" dirty="0"/>
                        <a:t>Status</a:t>
                      </a:r>
                    </a:p>
                  </a:txBody>
                  <a:tcPr anchor="ctr"/>
                </a:tc>
                <a:tc>
                  <a:txBody>
                    <a:bodyPr/>
                    <a:lstStyle/>
                    <a:p>
                      <a:pPr>
                        <a:buNone/>
                      </a:pPr>
                      <a:r>
                        <a:rPr lang="en-IN" dirty="0"/>
                        <a:t>VARCHAR(15)</a:t>
                      </a:r>
                    </a:p>
                  </a:txBody>
                  <a:tcPr anchor="ctr"/>
                </a:tc>
                <a:tc>
                  <a:txBody>
                    <a:bodyPr/>
                    <a:lstStyle/>
                    <a:p>
                      <a:pPr>
                        <a:buNone/>
                      </a:pPr>
                      <a:r>
                        <a:rPr lang="en-IN" dirty="0"/>
                        <a:t>—</a:t>
                      </a:r>
                    </a:p>
                  </a:txBody>
                  <a:tcPr anchor="ctr"/>
                </a:tc>
                <a:tc>
                  <a:txBody>
                    <a:bodyPr/>
                    <a:lstStyle/>
                    <a:p>
                      <a:pPr>
                        <a:buNone/>
                      </a:pPr>
                      <a:r>
                        <a:rPr lang="en-IN" dirty="0"/>
                        <a:t>Status </a:t>
                      </a:r>
                      <a:r>
                        <a:rPr lang="en-IN" dirty="0" err="1"/>
                        <a:t>eg</a:t>
                      </a:r>
                      <a:r>
                        <a:rPr lang="en-IN" dirty="0"/>
                        <a:t> delivered</a:t>
                      </a:r>
                    </a:p>
                  </a:txBody>
                  <a:tcPr anchor="ctr"/>
                </a:tc>
                <a:extLst>
                  <a:ext uri="{0D108BD9-81ED-4DB2-BD59-A6C34878D82A}">
                    <a16:rowId xmlns:a16="http://schemas.microsoft.com/office/drawing/2014/main" val="915615743"/>
                  </a:ext>
                </a:extLst>
              </a:tr>
            </a:tbl>
          </a:graphicData>
        </a:graphic>
      </p:graphicFrame>
    </p:spTree>
    <p:extLst>
      <p:ext uri="{BB962C8B-B14F-4D97-AF65-F5344CB8AC3E}">
        <p14:creationId xmlns:p14="http://schemas.microsoft.com/office/powerpoint/2010/main" val="1096694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DFE6-68D0-626B-CEA5-012AC4CE06D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6AB6B8D9-907C-14D3-FE13-17C6E6CA573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F2F8D3D4-7414-5BC2-228C-E9103C17FB7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960E6045-C32B-45CA-9E5F-2D8B9813510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41BB376-4DAB-084D-64E6-3760EA8F9DDD}"/>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E4FAF633-2235-2851-C3E8-F177ABCCA2F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3F3E476-DF9A-C6ED-BCF5-6782970F311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6F5A8444-086B-9125-6392-B400175A6B5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FE2C5A62-55CB-BE52-28C1-9826A4970DAA}"/>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7F5AECAB-ADA0-137A-8F14-77698E44A825}"/>
              </a:ext>
            </a:extLst>
          </p:cNvPr>
          <p:cNvSpPr txBox="1"/>
          <p:nvPr/>
        </p:nvSpPr>
        <p:spPr>
          <a:xfrm>
            <a:off x="533400" y="2005523"/>
            <a:ext cx="8366948" cy="646331"/>
          </a:xfrm>
          <a:prstGeom prst="rect">
            <a:avLst/>
          </a:prstGeom>
          <a:noFill/>
        </p:spPr>
        <p:txBody>
          <a:bodyPr wrap="square">
            <a:spAutoFit/>
          </a:bodyPr>
          <a:lstStyle/>
          <a:p>
            <a:r>
              <a:rPr lang="en-IN" b="1" dirty="0"/>
              <a:t>Login Table :</a:t>
            </a:r>
          </a:p>
          <a:p>
            <a:r>
              <a:rPr lang="en-US" dirty="0"/>
              <a:t>		Stores login credentials linked to the user</a:t>
            </a:r>
            <a:endParaRPr lang="en-IN" b="1" dirty="0"/>
          </a:p>
        </p:txBody>
      </p:sp>
      <p:graphicFrame>
        <p:nvGraphicFramePr>
          <p:cNvPr id="3" name="Table 2">
            <a:extLst>
              <a:ext uri="{FF2B5EF4-FFF2-40B4-BE49-F238E27FC236}">
                <a16:creationId xmlns:a16="http://schemas.microsoft.com/office/drawing/2014/main" id="{ECE2212A-37A1-89A7-A746-64DED323801A}"/>
              </a:ext>
            </a:extLst>
          </p:cNvPr>
          <p:cNvGraphicFramePr>
            <a:graphicFrameLocks noGrp="1"/>
          </p:cNvGraphicFramePr>
          <p:nvPr>
            <p:extLst>
              <p:ext uri="{D42A27DB-BD31-4B8C-83A1-F6EECF244321}">
                <p14:modId xmlns:p14="http://schemas.microsoft.com/office/powerpoint/2010/main" val="2405977103"/>
              </p:ext>
            </p:extLst>
          </p:nvPr>
        </p:nvGraphicFramePr>
        <p:xfrm>
          <a:off x="1529390" y="2857360"/>
          <a:ext cx="7767008" cy="1976259"/>
        </p:xfrm>
        <a:graphic>
          <a:graphicData uri="http://schemas.openxmlformats.org/drawingml/2006/table">
            <a:tbl>
              <a:tblPr firstRow="1" bandRow="1">
                <a:tableStyleId>{5C22544A-7EE6-4342-B048-85BDC9FD1C3A}</a:tableStyleId>
              </a:tblPr>
              <a:tblGrid>
                <a:gridCol w="1941752">
                  <a:extLst>
                    <a:ext uri="{9D8B030D-6E8A-4147-A177-3AD203B41FA5}">
                      <a16:colId xmlns:a16="http://schemas.microsoft.com/office/drawing/2014/main" val="3202670111"/>
                    </a:ext>
                  </a:extLst>
                </a:gridCol>
                <a:gridCol w="1941752">
                  <a:extLst>
                    <a:ext uri="{9D8B030D-6E8A-4147-A177-3AD203B41FA5}">
                      <a16:colId xmlns:a16="http://schemas.microsoft.com/office/drawing/2014/main" val="4006832804"/>
                    </a:ext>
                  </a:extLst>
                </a:gridCol>
                <a:gridCol w="1941752">
                  <a:extLst>
                    <a:ext uri="{9D8B030D-6E8A-4147-A177-3AD203B41FA5}">
                      <a16:colId xmlns:a16="http://schemas.microsoft.com/office/drawing/2014/main" val="264281203"/>
                    </a:ext>
                  </a:extLst>
                </a:gridCol>
                <a:gridCol w="1941752">
                  <a:extLst>
                    <a:ext uri="{9D8B030D-6E8A-4147-A177-3AD203B41FA5}">
                      <a16:colId xmlns:a16="http://schemas.microsoft.com/office/drawing/2014/main" val="1629121304"/>
                    </a:ext>
                  </a:extLst>
                </a:gridCol>
              </a:tblGrid>
              <a:tr h="658753">
                <a:tc>
                  <a:txBody>
                    <a:bodyPr/>
                    <a:lstStyle/>
                    <a:p>
                      <a:pPr>
                        <a:buNone/>
                      </a:pPr>
                      <a:r>
                        <a:rPr lang="en-IN"/>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1572804198"/>
                  </a:ext>
                </a:extLst>
              </a:tr>
              <a:tr h="658753">
                <a:tc>
                  <a:txBody>
                    <a:bodyPr/>
                    <a:lstStyle/>
                    <a:p>
                      <a:pPr>
                        <a:buNone/>
                      </a:pPr>
                      <a:r>
                        <a:rPr lang="en-IN" dirty="0"/>
                        <a:t>username</a:t>
                      </a:r>
                    </a:p>
                  </a:txBody>
                  <a:tcPr anchor="ctr"/>
                </a:tc>
                <a:tc>
                  <a:txBody>
                    <a:bodyPr/>
                    <a:lstStyle/>
                    <a:p>
                      <a:pPr>
                        <a:buNone/>
                      </a:pPr>
                      <a:r>
                        <a:rPr lang="en-IN"/>
                        <a:t>VARCHAR(50)</a:t>
                      </a:r>
                    </a:p>
                  </a:txBody>
                  <a:tcPr anchor="ctr"/>
                </a:tc>
                <a:tc>
                  <a:txBody>
                    <a:bodyPr/>
                    <a:lstStyle/>
                    <a:p>
                      <a:pPr>
                        <a:buNone/>
                      </a:pPr>
                      <a:r>
                        <a:rPr lang="en-IN"/>
                        <a:t>Unique</a:t>
                      </a:r>
                    </a:p>
                  </a:txBody>
                  <a:tcPr anchor="ctr"/>
                </a:tc>
                <a:tc>
                  <a:txBody>
                    <a:bodyPr/>
                    <a:lstStyle/>
                    <a:p>
                      <a:pPr>
                        <a:buNone/>
                      </a:pPr>
                      <a:r>
                        <a:rPr lang="en-IN" dirty="0"/>
                        <a:t>Username</a:t>
                      </a:r>
                    </a:p>
                  </a:txBody>
                  <a:tcPr anchor="ctr"/>
                </a:tc>
                <a:extLst>
                  <a:ext uri="{0D108BD9-81ED-4DB2-BD59-A6C34878D82A}">
                    <a16:rowId xmlns:a16="http://schemas.microsoft.com/office/drawing/2014/main" val="296586095"/>
                  </a:ext>
                </a:extLst>
              </a:tr>
              <a:tr h="658753">
                <a:tc>
                  <a:txBody>
                    <a:bodyPr/>
                    <a:lstStyle/>
                    <a:p>
                      <a:pPr>
                        <a:buNone/>
                      </a:pPr>
                      <a:r>
                        <a:rPr lang="en-IN"/>
                        <a:t>password</a:t>
                      </a:r>
                    </a:p>
                  </a:txBody>
                  <a:tcPr anchor="ctr"/>
                </a:tc>
                <a:tc>
                  <a:txBody>
                    <a:bodyPr/>
                    <a:lstStyle/>
                    <a:p>
                      <a:pPr>
                        <a:buNone/>
                      </a:pPr>
                      <a:r>
                        <a:rPr lang="en-IN"/>
                        <a:t>VARCHAR(100)</a:t>
                      </a:r>
                    </a:p>
                  </a:txBody>
                  <a:tcPr anchor="ctr"/>
                </a:tc>
                <a:tc>
                  <a:txBody>
                    <a:bodyPr/>
                    <a:lstStyle/>
                    <a:p>
                      <a:pPr>
                        <a:buNone/>
                      </a:pPr>
                      <a:r>
                        <a:rPr lang="en-IN" dirty="0"/>
                        <a:t>—</a:t>
                      </a:r>
                    </a:p>
                  </a:txBody>
                  <a:tcPr anchor="ctr"/>
                </a:tc>
                <a:tc>
                  <a:txBody>
                    <a:bodyPr/>
                    <a:lstStyle/>
                    <a:p>
                      <a:pPr>
                        <a:buNone/>
                      </a:pPr>
                      <a:r>
                        <a:rPr lang="en-IN" dirty="0"/>
                        <a:t>Password</a:t>
                      </a:r>
                    </a:p>
                  </a:txBody>
                  <a:tcPr anchor="ctr"/>
                </a:tc>
                <a:extLst>
                  <a:ext uri="{0D108BD9-81ED-4DB2-BD59-A6C34878D82A}">
                    <a16:rowId xmlns:a16="http://schemas.microsoft.com/office/drawing/2014/main" val="4055298792"/>
                  </a:ext>
                </a:extLst>
              </a:tr>
            </a:tbl>
          </a:graphicData>
        </a:graphic>
      </p:graphicFrame>
    </p:spTree>
    <p:extLst>
      <p:ext uri="{BB962C8B-B14F-4D97-AF65-F5344CB8AC3E}">
        <p14:creationId xmlns:p14="http://schemas.microsoft.com/office/powerpoint/2010/main" val="2359568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457200" y="3547261"/>
            <a:ext cx="5655945" cy="1047210"/>
          </a:xfrm>
          <a:prstGeom prst="rect">
            <a:avLst/>
          </a:prstGeom>
          <a:noFill/>
        </p:spPr>
        <p:txBody>
          <a:bodyPr wrap="square" rtlCol="0">
            <a:spAutoFit/>
          </a:bodyPr>
          <a:lstStyle/>
          <a:p>
            <a:pPr algn="just">
              <a:lnSpc>
                <a:spcPct val="150000"/>
              </a:lnSpc>
            </a:pPr>
            <a:endParaRPr lang="en-IN" sz="2200" b="1" dirty="0">
              <a:latin typeface="Times New Roman" panose="02020603050405020304" pitchFamily="18" charset="0"/>
              <a:cs typeface="Times New Roman" panose="02020603050405020304" pitchFamily="18" charset="0"/>
            </a:endParaRPr>
          </a:p>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290750" y="4602301"/>
            <a:ext cx="8610599" cy="3170099"/>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 Authentication Module: </a:t>
            </a:r>
            <a:r>
              <a:rPr lang="en-US" sz="2000" dirty="0">
                <a:latin typeface="Times New Roman" panose="02020603050405020304" pitchFamily="18" charset="0"/>
                <a:cs typeface="Times New Roman" panose="02020603050405020304" pitchFamily="18" charset="0"/>
              </a:rPr>
              <a:t>Handles login and registration.</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Catalog Module</a:t>
            </a:r>
            <a:r>
              <a:rPr lang="en-US" sz="2000" dirty="0">
                <a:latin typeface="Times New Roman" panose="02020603050405020304" pitchFamily="18" charset="0"/>
                <a:cs typeface="Times New Roman" panose="02020603050405020304" pitchFamily="18" charset="0"/>
              </a:rPr>
              <a:t>: Fetches product data from the database and displays it in a </a:t>
            </a:r>
          </a:p>
          <a:p>
            <a:pPr algn="just"/>
            <a:r>
              <a:rPr lang="en-US" sz="2000" dirty="0" err="1">
                <a:latin typeface="Times New Roman" panose="02020603050405020304" pitchFamily="18" charset="0"/>
                <a:cs typeface="Times New Roman" panose="02020603050405020304" pitchFamily="18" charset="0"/>
              </a:rPr>
              <a:t>JTable</a:t>
            </a:r>
            <a:r>
              <a:rPr lang="en-US" sz="2000" dirty="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 Cart Module</a:t>
            </a:r>
            <a:r>
              <a:rPr lang="en-US" sz="2000" dirty="0">
                <a:latin typeface="Times New Roman" panose="02020603050405020304" pitchFamily="18" charset="0"/>
                <a:cs typeface="Times New Roman" panose="02020603050405020304" pitchFamily="18" charset="0"/>
              </a:rPr>
              <a:t>:  A temporary data structure (</a:t>
            </a:r>
            <a:r>
              <a:rPr lang="en-US" sz="2000" dirty="0" err="1">
                <a:latin typeface="Times New Roman" panose="02020603050405020304" pitchFamily="18" charset="0"/>
                <a:cs typeface="Times New Roman" panose="02020603050405020304" pitchFamily="18" charset="0"/>
              </a:rPr>
              <a:t>ArrayList</a:t>
            </a:r>
            <a:r>
              <a:rPr lang="en-US" sz="2000" dirty="0">
                <a:latin typeface="Times New Roman" panose="02020603050405020304" pitchFamily="18" charset="0"/>
                <a:cs typeface="Times New Roman" panose="02020603050405020304" pitchFamily="18" charset="0"/>
              </a:rPr>
              <a:t>) that stores selected items </a:t>
            </a:r>
          </a:p>
          <a:p>
            <a:pPr algn="just"/>
            <a:r>
              <a:rPr lang="en-US" sz="2000" dirty="0">
                <a:latin typeface="Times New Roman" panose="02020603050405020304" pitchFamily="18" charset="0"/>
                <a:cs typeface="Times New Roman" panose="02020603050405020304" pitchFamily="18" charset="0"/>
              </a:rPr>
              <a:t>before final checkout.</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 Billing Module</a:t>
            </a:r>
            <a:r>
              <a:rPr lang="en-US" sz="2000" dirty="0">
                <a:latin typeface="Times New Roman" panose="02020603050405020304" pitchFamily="18" charset="0"/>
                <a:cs typeface="Times New Roman" panose="02020603050405020304" pitchFamily="18" charset="0"/>
              </a:rPr>
              <a:t>: Calculates the final amount and updates the Oracle ‘stock‘ column using SQL UPDATE queries.</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FB057A4-3566-BA4D-D135-4C856A078AC3}"/>
              </a:ext>
            </a:extLst>
          </p:cNvPr>
          <p:cNvSpPr txBox="1"/>
          <p:nvPr/>
        </p:nvSpPr>
        <p:spPr>
          <a:xfrm>
            <a:off x="582984" y="976512"/>
            <a:ext cx="5029200" cy="369332"/>
          </a:xfrm>
          <a:prstGeom prst="rect">
            <a:avLst/>
          </a:prstGeom>
          <a:noFill/>
        </p:spPr>
        <p:txBody>
          <a:bodyPr wrap="square">
            <a:spAutoFit/>
          </a:bodyPr>
          <a:lstStyle/>
          <a:p>
            <a:r>
              <a:rPr lang="en-IN" b="1" dirty="0"/>
              <a:t>System Design and Architecture</a:t>
            </a:r>
          </a:p>
        </p:txBody>
      </p:sp>
      <p:sp>
        <p:nvSpPr>
          <p:cNvPr id="14" name="TextBox 13">
            <a:extLst>
              <a:ext uri="{FF2B5EF4-FFF2-40B4-BE49-F238E27FC236}">
                <a16:creationId xmlns:a16="http://schemas.microsoft.com/office/drawing/2014/main" id="{29812ACA-159F-78A7-9213-DE685047FE27}"/>
              </a:ext>
            </a:extLst>
          </p:cNvPr>
          <p:cNvSpPr txBox="1"/>
          <p:nvPr/>
        </p:nvSpPr>
        <p:spPr>
          <a:xfrm>
            <a:off x="545813" y="1497306"/>
            <a:ext cx="5029200" cy="646331"/>
          </a:xfrm>
          <a:prstGeom prst="rect">
            <a:avLst/>
          </a:prstGeom>
          <a:noFill/>
        </p:spPr>
        <p:txBody>
          <a:bodyPr wrap="square">
            <a:spAutoFit/>
          </a:bodyPr>
          <a:lstStyle/>
          <a:p>
            <a:r>
              <a:rPr lang="en-US" b="1" dirty="0"/>
              <a:t>The project follows a **Two -Tier Architecture**:</a:t>
            </a:r>
            <a:endParaRPr lang="en-IN" b="1" dirty="0"/>
          </a:p>
        </p:txBody>
      </p:sp>
      <p:sp>
        <p:nvSpPr>
          <p:cNvPr id="16" name="TextBox 15">
            <a:extLst>
              <a:ext uri="{FF2B5EF4-FFF2-40B4-BE49-F238E27FC236}">
                <a16:creationId xmlns:a16="http://schemas.microsoft.com/office/drawing/2014/main" id="{EDAEA135-59F1-5A0D-C332-1443C5571170}"/>
              </a:ext>
            </a:extLst>
          </p:cNvPr>
          <p:cNvSpPr txBox="1"/>
          <p:nvPr/>
        </p:nvSpPr>
        <p:spPr>
          <a:xfrm>
            <a:off x="582984" y="2228065"/>
            <a:ext cx="5029200" cy="646331"/>
          </a:xfrm>
          <a:prstGeom prst="rect">
            <a:avLst/>
          </a:prstGeom>
          <a:noFill/>
        </p:spPr>
        <p:txBody>
          <a:bodyPr wrap="square">
            <a:spAutoFit/>
          </a:bodyPr>
          <a:lstStyle/>
          <a:p>
            <a:r>
              <a:rPr lang="en-US" b="1" dirty="0"/>
              <a:t>1. Client Tier (Frontend): </a:t>
            </a:r>
            <a:r>
              <a:rPr lang="en-US" dirty="0"/>
              <a:t>The Java Swing application handles user interaction and </a:t>
            </a:r>
            <a:endParaRPr lang="en-IN" dirty="0"/>
          </a:p>
        </p:txBody>
      </p:sp>
      <p:sp>
        <p:nvSpPr>
          <p:cNvPr id="18" name="TextBox 17">
            <a:extLst>
              <a:ext uri="{FF2B5EF4-FFF2-40B4-BE49-F238E27FC236}">
                <a16:creationId xmlns:a16="http://schemas.microsoft.com/office/drawing/2014/main" id="{B7BF12C6-969A-601A-0E41-276592F33BDE}"/>
              </a:ext>
            </a:extLst>
          </p:cNvPr>
          <p:cNvSpPr txBox="1"/>
          <p:nvPr/>
        </p:nvSpPr>
        <p:spPr>
          <a:xfrm>
            <a:off x="609335" y="2819723"/>
            <a:ext cx="5029200" cy="923330"/>
          </a:xfrm>
          <a:prstGeom prst="rect">
            <a:avLst/>
          </a:prstGeom>
          <a:noFill/>
        </p:spPr>
        <p:txBody>
          <a:bodyPr wrap="square">
            <a:spAutoFit/>
          </a:bodyPr>
          <a:lstStyle/>
          <a:p>
            <a:r>
              <a:rPr lang="en-IN" dirty="0"/>
              <a:t>business logic.</a:t>
            </a:r>
          </a:p>
          <a:p>
            <a:r>
              <a:rPr lang="en-IN" b="1" dirty="0"/>
              <a:t>2. Database Tier (Backend): </a:t>
            </a:r>
            <a:r>
              <a:rPr lang="en-IN" dirty="0"/>
              <a:t>The Oracle Database handles data persistence, con- </a:t>
            </a:r>
          </a:p>
        </p:txBody>
      </p:sp>
      <p:sp>
        <p:nvSpPr>
          <p:cNvPr id="20" name="TextBox 19">
            <a:extLst>
              <a:ext uri="{FF2B5EF4-FFF2-40B4-BE49-F238E27FC236}">
                <a16:creationId xmlns:a16="http://schemas.microsoft.com/office/drawing/2014/main" id="{898B3D67-0CB7-9802-E017-7AA2CE9DC885}"/>
              </a:ext>
            </a:extLst>
          </p:cNvPr>
          <p:cNvSpPr txBox="1"/>
          <p:nvPr/>
        </p:nvSpPr>
        <p:spPr>
          <a:xfrm>
            <a:off x="2514600" y="3701534"/>
            <a:ext cx="5029200" cy="369332"/>
          </a:xfrm>
          <a:prstGeom prst="rect">
            <a:avLst/>
          </a:prstGeom>
          <a:noFill/>
        </p:spPr>
        <p:txBody>
          <a:bodyPr wrap="square">
            <a:spAutoFit/>
          </a:bodyPr>
          <a:lstStyle/>
          <a:p>
            <a:endParaRPr lang="en-IN" dirty="0"/>
          </a:p>
        </p:txBody>
      </p:sp>
      <p:sp>
        <p:nvSpPr>
          <p:cNvPr id="22" name="TextBox 21">
            <a:extLst>
              <a:ext uri="{FF2B5EF4-FFF2-40B4-BE49-F238E27FC236}">
                <a16:creationId xmlns:a16="http://schemas.microsoft.com/office/drawing/2014/main" id="{E7D70E5C-AF0E-0413-1299-1226A047C020}"/>
              </a:ext>
            </a:extLst>
          </p:cNvPr>
          <p:cNvSpPr txBox="1"/>
          <p:nvPr/>
        </p:nvSpPr>
        <p:spPr>
          <a:xfrm>
            <a:off x="545813" y="3701534"/>
            <a:ext cx="5029200" cy="369332"/>
          </a:xfrm>
          <a:prstGeom prst="rect">
            <a:avLst/>
          </a:prstGeom>
          <a:noFill/>
        </p:spPr>
        <p:txBody>
          <a:bodyPr wrap="square">
            <a:spAutoFit/>
          </a:bodyPr>
          <a:lstStyle/>
          <a:p>
            <a:r>
              <a:rPr lang="en-IN"/>
              <a:t>straints, and triggers.</a:t>
            </a:r>
            <a:endParaRPr lang="en-IN" dirty="0"/>
          </a:p>
        </p:txBody>
      </p:sp>
    </p:spTree>
    <p:extLst>
      <p:ext uri="{BB962C8B-B14F-4D97-AF65-F5344CB8AC3E}">
        <p14:creationId xmlns:p14="http://schemas.microsoft.com/office/powerpoint/2010/main" val="31449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Login window: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This window allows authorized users to enter their username and password to access the Main Dashboard of the Cart management System.</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12" name="Picture 11">
            <a:extLst>
              <a:ext uri="{FF2B5EF4-FFF2-40B4-BE49-F238E27FC236}">
                <a16:creationId xmlns:a16="http://schemas.microsoft.com/office/drawing/2014/main" id="{CE5EBE26-BB5D-A1A8-7548-61819EAE8EE4}"/>
              </a:ext>
            </a:extLst>
          </p:cNvPr>
          <p:cNvPicPr>
            <a:picLocks noChangeAspect="1"/>
          </p:cNvPicPr>
          <p:nvPr/>
        </p:nvPicPr>
        <p:blipFill>
          <a:blip r:embed="rId7"/>
          <a:stretch>
            <a:fillRect/>
          </a:stretch>
        </p:blipFill>
        <p:spPr>
          <a:xfrm>
            <a:off x="990600" y="2549977"/>
            <a:ext cx="6363251" cy="5014395"/>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DE39BD-B38D-F038-C3C2-37F3F226C77D}"/>
              </a:ext>
            </a:extLst>
          </p:cNvPr>
          <p:cNvSpPr txBox="1"/>
          <p:nvPr/>
        </p:nvSpPr>
        <p:spPr>
          <a:xfrm>
            <a:off x="990600" y="1449777"/>
            <a:ext cx="8763000" cy="1200329"/>
          </a:xfrm>
          <a:prstGeom prst="rect">
            <a:avLst/>
          </a:prstGeom>
          <a:noFill/>
        </p:spPr>
        <p:txBody>
          <a:bodyPr wrap="square">
            <a:spAutoFit/>
          </a:bodyPr>
          <a:lstStyle/>
          <a:p>
            <a:r>
              <a:rPr lang="en-IN" sz="1800" b="1" u="sng" dirty="0"/>
              <a:t>Main Window:</a:t>
            </a:r>
            <a:endParaRPr lang="en-IN" sz="1800" dirty="0"/>
          </a:p>
          <a:p>
            <a:r>
              <a:rPr lang="en-IN" sz="1800" b="1" dirty="0"/>
              <a:t> </a:t>
            </a:r>
            <a:endParaRPr lang="en-IN" sz="1800" dirty="0"/>
          </a:p>
          <a:p>
            <a:r>
              <a:rPr lang="en-IN" dirty="0"/>
              <a:t>The main dashboard provide navigation of all products categories, Cart, My orders , search bar .</a:t>
            </a:r>
            <a:endParaRPr lang="en-IN" sz="1800" dirty="0"/>
          </a:p>
        </p:txBody>
      </p:sp>
      <p:pic>
        <p:nvPicPr>
          <p:cNvPr id="12" name="Picture 11">
            <a:extLst>
              <a:ext uri="{FF2B5EF4-FFF2-40B4-BE49-F238E27FC236}">
                <a16:creationId xmlns:a16="http://schemas.microsoft.com/office/drawing/2014/main" id="{AF9B9F6C-C419-49BC-AA88-5FA0F3F858B9}"/>
              </a:ext>
            </a:extLst>
          </p:cNvPr>
          <p:cNvPicPr>
            <a:picLocks noChangeAspect="1"/>
          </p:cNvPicPr>
          <p:nvPr/>
        </p:nvPicPr>
        <p:blipFill>
          <a:blip r:embed="rId7"/>
          <a:stretch>
            <a:fillRect/>
          </a:stretch>
        </p:blipFill>
        <p:spPr>
          <a:xfrm>
            <a:off x="13010" y="2740475"/>
            <a:ext cx="10058400" cy="5349811"/>
          </a:xfrm>
          <a:prstGeom prst="rect">
            <a:avLst/>
          </a:prstGeom>
        </p:spPr>
      </p:pic>
    </p:spTree>
    <p:extLst>
      <p:ext uri="{BB962C8B-B14F-4D97-AF65-F5344CB8AC3E}">
        <p14:creationId xmlns:p14="http://schemas.microsoft.com/office/powerpoint/2010/main" val="2972483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E08911D-DB8D-864A-A56A-021103D1465A}"/>
              </a:ext>
            </a:extLst>
          </p:cNvPr>
          <p:cNvSpPr txBox="1"/>
          <p:nvPr/>
        </p:nvSpPr>
        <p:spPr>
          <a:xfrm>
            <a:off x="857383" y="1051293"/>
            <a:ext cx="8763000" cy="1200329"/>
          </a:xfrm>
          <a:prstGeom prst="rect">
            <a:avLst/>
          </a:prstGeom>
          <a:noFill/>
        </p:spPr>
        <p:txBody>
          <a:bodyPr wrap="square">
            <a:spAutoFit/>
          </a:bodyPr>
          <a:lstStyle/>
          <a:p>
            <a:r>
              <a:rPr lang="en-IN" b="1" u="sng" dirty="0"/>
              <a:t>Cart </a:t>
            </a:r>
            <a:r>
              <a:rPr lang="en-IN" sz="1800" b="1" u="sng" dirty="0"/>
              <a:t>Window:</a:t>
            </a:r>
            <a:endParaRPr lang="en-IN" sz="1800" dirty="0"/>
          </a:p>
          <a:p>
            <a:r>
              <a:rPr lang="en-IN" sz="1800" b="1" dirty="0"/>
              <a:t> </a:t>
            </a:r>
            <a:endParaRPr lang="en-IN" sz="1800" dirty="0"/>
          </a:p>
          <a:p>
            <a:pPr algn="just"/>
            <a:r>
              <a:rPr lang="en-IN" sz="1800" dirty="0"/>
              <a:t>This shows all the products added to the cart </a:t>
            </a:r>
            <a:r>
              <a:rPr lang="en-IN" dirty="0"/>
              <a:t>, with the option of adding or reducing the quantities also with the option of removing a product from the cart.</a:t>
            </a:r>
            <a:endParaRPr lang="en-IN" sz="1800" dirty="0"/>
          </a:p>
        </p:txBody>
      </p:sp>
      <p:pic>
        <p:nvPicPr>
          <p:cNvPr id="12" name="Picture 11">
            <a:extLst>
              <a:ext uri="{FF2B5EF4-FFF2-40B4-BE49-F238E27FC236}">
                <a16:creationId xmlns:a16="http://schemas.microsoft.com/office/drawing/2014/main" id="{FD3404B3-1727-EE6D-9BC0-6E7E4C08F6C5}"/>
              </a:ext>
            </a:extLst>
          </p:cNvPr>
          <p:cNvPicPr>
            <a:picLocks noChangeAspect="1"/>
          </p:cNvPicPr>
          <p:nvPr/>
        </p:nvPicPr>
        <p:blipFill>
          <a:blip r:embed="rId7"/>
          <a:stretch>
            <a:fillRect/>
          </a:stretch>
        </p:blipFill>
        <p:spPr>
          <a:xfrm>
            <a:off x="113552" y="2355158"/>
            <a:ext cx="10058400" cy="5224082"/>
          </a:xfrm>
          <a:prstGeom prst="rect">
            <a:avLst/>
          </a:prstGeom>
        </p:spPr>
      </p:pic>
    </p:spTree>
    <p:extLst>
      <p:ext uri="{BB962C8B-B14F-4D97-AF65-F5344CB8AC3E}">
        <p14:creationId xmlns:p14="http://schemas.microsoft.com/office/powerpoint/2010/main" val="359963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FDFF7E8-2D7E-EE44-718C-EFE70C9A2E40}"/>
              </a:ext>
            </a:extLst>
          </p:cNvPr>
          <p:cNvSpPr txBox="1"/>
          <p:nvPr/>
        </p:nvSpPr>
        <p:spPr>
          <a:xfrm>
            <a:off x="990600" y="1449777"/>
            <a:ext cx="8763000" cy="1477328"/>
          </a:xfrm>
          <a:prstGeom prst="rect">
            <a:avLst/>
          </a:prstGeom>
          <a:noFill/>
        </p:spPr>
        <p:txBody>
          <a:bodyPr wrap="square">
            <a:spAutoFit/>
          </a:bodyPr>
          <a:lstStyle/>
          <a:p>
            <a:r>
              <a:rPr lang="en-IN" b="1" u="sng" dirty="0" err="1"/>
              <a:t>MyOrders</a:t>
            </a:r>
            <a:r>
              <a:rPr lang="en-IN" sz="1800" b="1" u="sng" dirty="0"/>
              <a:t> Window:</a:t>
            </a:r>
            <a:endParaRPr lang="en-IN" sz="1800" dirty="0"/>
          </a:p>
          <a:p>
            <a:r>
              <a:rPr lang="en-IN" sz="1800" b="1" dirty="0"/>
              <a:t> </a:t>
            </a:r>
            <a:endParaRPr lang="en-IN" sz="1800" dirty="0"/>
          </a:p>
          <a:p>
            <a:pPr algn="just"/>
            <a:r>
              <a:rPr lang="en-IN" sz="1800" dirty="0"/>
              <a:t>This window enables the user to view the orders available , with the option to remove the orders if no longer needed. Also tracking the orders as it shows the status of the order.</a:t>
            </a:r>
          </a:p>
        </p:txBody>
      </p:sp>
      <p:pic>
        <p:nvPicPr>
          <p:cNvPr id="12" name="Picture 11">
            <a:extLst>
              <a:ext uri="{FF2B5EF4-FFF2-40B4-BE49-F238E27FC236}">
                <a16:creationId xmlns:a16="http://schemas.microsoft.com/office/drawing/2014/main" id="{D7E1C792-785A-02A6-1914-28B1318FAB20}"/>
              </a:ext>
            </a:extLst>
          </p:cNvPr>
          <p:cNvPicPr>
            <a:picLocks noChangeAspect="1"/>
          </p:cNvPicPr>
          <p:nvPr/>
        </p:nvPicPr>
        <p:blipFill>
          <a:blip r:embed="rId7"/>
          <a:stretch>
            <a:fillRect/>
          </a:stretch>
        </p:blipFill>
        <p:spPr>
          <a:xfrm>
            <a:off x="113552" y="3505200"/>
            <a:ext cx="10058400" cy="1776410"/>
          </a:xfrm>
          <a:prstGeom prst="rect">
            <a:avLst/>
          </a:prstGeom>
        </p:spPr>
      </p:pic>
    </p:spTree>
    <p:extLst>
      <p:ext uri="{BB962C8B-B14F-4D97-AF65-F5344CB8AC3E}">
        <p14:creationId xmlns:p14="http://schemas.microsoft.com/office/powerpoint/2010/main" val="4049249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93131E-D2BB-EC5C-2A95-924FDF20D02E}"/>
              </a:ext>
            </a:extLst>
          </p:cNvPr>
          <p:cNvSpPr txBox="1"/>
          <p:nvPr/>
        </p:nvSpPr>
        <p:spPr>
          <a:xfrm>
            <a:off x="314911" y="1143000"/>
            <a:ext cx="9448800" cy="4190314"/>
          </a:xfrm>
          <a:prstGeom prst="rect">
            <a:avLst/>
          </a:prstGeom>
          <a:noFill/>
        </p:spPr>
        <p:txBody>
          <a:bodyPr wrap="square" rtlCol="0">
            <a:spAutoFit/>
          </a:bodyPr>
          <a:lstStyle/>
          <a:p>
            <a:pPr algn="just">
              <a:lnSpc>
                <a:spcPct val="150000"/>
              </a:lnSpc>
            </a:pPr>
            <a:r>
              <a:rPr lang="en-IN" sz="2000" dirty="0"/>
              <a:t>The Cart Management System developed in this project provides basic functionalities for the product management and billing systems. However, the system can be further enhanced by adding advanced features to improve its functionality and usability. Some possible future enhancements include:</a:t>
            </a:r>
          </a:p>
          <a:p>
            <a:pPr algn="just">
              <a:lnSpc>
                <a:spcPct val="150000"/>
              </a:lnSpc>
            </a:pPr>
            <a:endParaRPr lang="en-IN" sz="2000" dirty="0"/>
          </a:p>
          <a:p>
            <a:pPr algn="just">
              <a:lnSpc>
                <a:spcPct val="150000"/>
              </a:lnSpc>
            </a:pPr>
            <a:r>
              <a:rPr lang="en-US" sz="2000" b="1" dirty="0"/>
              <a:t>• Mobile App</a:t>
            </a:r>
            <a:r>
              <a:rPr lang="en-US" sz="2000" dirty="0"/>
              <a:t>: Developing a companion Android/iOS app.</a:t>
            </a:r>
          </a:p>
          <a:p>
            <a:pPr algn="just">
              <a:lnSpc>
                <a:spcPct val="150000"/>
              </a:lnSpc>
            </a:pPr>
            <a:r>
              <a:rPr lang="en-US" sz="2000" dirty="0"/>
              <a:t>• </a:t>
            </a:r>
            <a:r>
              <a:rPr lang="en-US" sz="2000" b="1" dirty="0"/>
              <a:t>Payment Gateway</a:t>
            </a:r>
            <a:r>
              <a:rPr lang="en-US" sz="2000" dirty="0"/>
              <a:t>: Integrating real world APIs like Stripe or PayPal.</a:t>
            </a:r>
          </a:p>
          <a:p>
            <a:pPr algn="just">
              <a:lnSpc>
                <a:spcPct val="150000"/>
              </a:lnSpc>
            </a:pPr>
            <a:r>
              <a:rPr lang="en-US" sz="2000" dirty="0"/>
              <a:t>• </a:t>
            </a:r>
            <a:r>
              <a:rPr lang="en-US" sz="2000" b="1" dirty="0"/>
              <a:t>AI Recommendations</a:t>
            </a:r>
            <a:r>
              <a:rPr lang="en-US" sz="2000" dirty="0"/>
              <a:t>:  Adding a suggestion engine based on user purchase </a:t>
            </a:r>
          </a:p>
          <a:p>
            <a:pPr algn="just">
              <a:lnSpc>
                <a:spcPct val="150000"/>
              </a:lnSpc>
            </a:pPr>
            <a:r>
              <a:rPr lang="en-US" sz="2000" dirty="0"/>
              <a:t>history.</a:t>
            </a:r>
            <a:endParaRPr lang="en-IN" sz="2000" dirty="0"/>
          </a:p>
        </p:txBody>
      </p:sp>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18789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a:off x="304800" y="1034052"/>
            <a:ext cx="9448800" cy="6821804"/>
          </a:xfrm>
          <a:prstGeom prst="rect">
            <a:avLst/>
          </a:prstGeom>
          <a:noFill/>
        </p:spPr>
        <p:txBody>
          <a:bodyPr wrap="square" rtlCol="0">
            <a:spAutoFit/>
          </a:bodyPr>
          <a:lstStyle/>
          <a:p>
            <a:pPr>
              <a:lnSpc>
                <a:spcPct val="150000"/>
              </a:lnSpc>
            </a:pPr>
            <a:r>
              <a:rPr lang="en-IN" sz="2000" dirty="0"/>
              <a:t>The following references were used during the development of the Employee Management System:</a:t>
            </a:r>
          </a:p>
          <a:p>
            <a:pPr marL="714375" lvl="2" indent="-285750">
              <a:lnSpc>
                <a:spcPct val="150000"/>
              </a:lnSpc>
              <a:buFont typeface="Arial" panose="020B0604020202020204" pitchFamily="34" charset="0"/>
              <a:buChar char="•"/>
            </a:pPr>
            <a:r>
              <a:rPr lang="en-IN" b="1" dirty="0"/>
              <a:t>Herbert Schildt</a:t>
            </a:r>
            <a:r>
              <a:rPr lang="en-IN" dirty="0"/>
              <a:t>, </a:t>
            </a:r>
            <a:r>
              <a:rPr lang="en-IN" i="1" dirty="0"/>
              <a:t>Java: The Complete Reference</a:t>
            </a:r>
            <a:r>
              <a:rPr lang="en-IN" dirty="0"/>
              <a:t>, Oracle Press, 11th Edition.</a:t>
            </a:r>
          </a:p>
          <a:p>
            <a:pPr marL="714375" lvl="2" indent="-285750">
              <a:lnSpc>
                <a:spcPct val="150000"/>
              </a:lnSpc>
              <a:buFont typeface="Arial" panose="020B0604020202020204" pitchFamily="34" charset="0"/>
              <a:buChar char="•"/>
            </a:pPr>
            <a:r>
              <a:rPr lang="en-IN" b="1" dirty="0"/>
              <a:t>E. </a:t>
            </a:r>
            <a:r>
              <a:rPr lang="en-IN" b="1" dirty="0" err="1"/>
              <a:t>Balagurusamy</a:t>
            </a:r>
            <a:r>
              <a:rPr lang="en-IN" dirty="0"/>
              <a:t>, </a:t>
            </a:r>
            <a:r>
              <a:rPr lang="en-IN" i="1" dirty="0"/>
              <a:t>Programming with Java</a:t>
            </a:r>
            <a:r>
              <a:rPr lang="en-IN" dirty="0"/>
              <a:t>, McGraw Hill Education.</a:t>
            </a:r>
          </a:p>
          <a:p>
            <a:pPr marL="714375" lvl="2" indent="-285750">
              <a:lnSpc>
                <a:spcPct val="150000"/>
              </a:lnSpc>
              <a:buFont typeface="Arial" panose="020B0604020202020204" pitchFamily="34" charset="0"/>
              <a:buChar char="•"/>
            </a:pPr>
            <a:r>
              <a:rPr lang="en-IN" b="1" dirty="0"/>
              <a:t>Korth, Silberschatz, Sudarshan</a:t>
            </a:r>
            <a:r>
              <a:rPr lang="en-IN" dirty="0"/>
              <a:t>, </a:t>
            </a:r>
            <a:r>
              <a:rPr lang="en-IN" i="1" dirty="0"/>
              <a:t>Database System Concepts</a:t>
            </a:r>
            <a:r>
              <a:rPr lang="en-IN" dirty="0"/>
              <a:t>, McGraw Hill.</a:t>
            </a:r>
          </a:p>
          <a:p>
            <a:pPr marL="714375" lvl="2" indent="-285750">
              <a:lnSpc>
                <a:spcPct val="150000"/>
              </a:lnSpc>
              <a:buFont typeface="Arial" panose="020B0604020202020204" pitchFamily="34" charset="0"/>
              <a:buChar char="•"/>
            </a:pPr>
            <a:r>
              <a:rPr lang="en-IN" b="1" dirty="0"/>
              <a:t>Oracle Documentation</a:t>
            </a:r>
            <a:r>
              <a:rPr lang="en-IN" dirty="0"/>
              <a:t>,</a:t>
            </a:r>
            <a:br>
              <a:rPr lang="en-IN" dirty="0"/>
            </a:br>
            <a:r>
              <a:rPr lang="en-IN" u="sng" dirty="0">
                <a:hlinkClick r:id="rId2"/>
              </a:rPr>
              <a:t>https://docs.oracle.com</a:t>
            </a:r>
            <a:endParaRPr lang="en-IN" dirty="0"/>
          </a:p>
          <a:p>
            <a:pPr marL="714375" lvl="2" indent="-285750">
              <a:lnSpc>
                <a:spcPct val="150000"/>
              </a:lnSpc>
              <a:buFont typeface="Arial" panose="020B0604020202020204" pitchFamily="34" charset="0"/>
              <a:buChar char="•"/>
            </a:pPr>
            <a:r>
              <a:rPr lang="en-IN" b="1" dirty="0"/>
              <a:t>Java Documentation (Oracle)</a:t>
            </a:r>
            <a:r>
              <a:rPr lang="en-IN" dirty="0"/>
              <a:t>,</a:t>
            </a:r>
            <a:br>
              <a:rPr lang="en-IN" dirty="0"/>
            </a:br>
            <a:r>
              <a:rPr lang="en-IN" u="sng" dirty="0">
                <a:hlinkClick r:id="rId3"/>
              </a:rPr>
              <a:t>https://docs.oracle.com/javase</a:t>
            </a:r>
            <a:endParaRPr lang="en-IN" dirty="0"/>
          </a:p>
          <a:p>
            <a:pPr marL="714375" lvl="2" indent="-285750">
              <a:lnSpc>
                <a:spcPct val="150000"/>
              </a:lnSpc>
              <a:buFont typeface="Arial" panose="020B0604020202020204" pitchFamily="34" charset="0"/>
              <a:buChar char="•"/>
            </a:pPr>
            <a:r>
              <a:rPr lang="en-IN" b="1" dirty="0"/>
              <a:t>JDBC Tutorial – </a:t>
            </a:r>
            <a:r>
              <a:rPr lang="en-IN" b="1" dirty="0" err="1"/>
              <a:t>GeeksforGeeks</a:t>
            </a:r>
            <a:r>
              <a:rPr lang="en-IN" dirty="0"/>
              <a:t>,</a:t>
            </a:r>
            <a:br>
              <a:rPr lang="en-IN" dirty="0"/>
            </a:br>
            <a:r>
              <a:rPr lang="en-IN" dirty="0"/>
              <a:t>https://www.geeksforgeeks.org/jdbc/</a:t>
            </a:r>
          </a:p>
          <a:p>
            <a:pPr marL="714375" lvl="2" indent="-285750">
              <a:lnSpc>
                <a:spcPct val="150000"/>
              </a:lnSpc>
              <a:buFont typeface="Arial" panose="020B0604020202020204" pitchFamily="34" charset="0"/>
              <a:buChar char="•"/>
            </a:pPr>
            <a:r>
              <a:rPr lang="en-IN" b="1" dirty="0"/>
              <a:t>Java Swing Tutorial – </a:t>
            </a:r>
            <a:r>
              <a:rPr lang="en-IN" b="1" dirty="0" err="1"/>
              <a:t>TutorialsPoint</a:t>
            </a:r>
            <a:r>
              <a:rPr lang="en-IN" dirty="0"/>
              <a:t>,</a:t>
            </a:r>
            <a:br>
              <a:rPr lang="en-IN" dirty="0"/>
            </a:br>
            <a:r>
              <a:rPr lang="en-IN" dirty="0"/>
              <a:t>https://www.tutorialspoint.com/java_swing</a:t>
            </a:r>
          </a:p>
          <a:p>
            <a:pPr marL="714375" lvl="2" indent="-285750">
              <a:lnSpc>
                <a:spcPct val="150000"/>
              </a:lnSpc>
              <a:buFont typeface="Arial" panose="020B0604020202020204" pitchFamily="34" charset="0"/>
              <a:buChar char="•"/>
            </a:pPr>
            <a:r>
              <a:rPr lang="en-IN" b="1" dirty="0"/>
              <a:t>W3Schools Java Tutorial</a:t>
            </a:r>
            <a:r>
              <a:rPr lang="en-IN" dirty="0"/>
              <a:t>,</a:t>
            </a:r>
            <a:br>
              <a:rPr lang="en-IN" dirty="0"/>
            </a:br>
            <a:r>
              <a:rPr lang="en-IN" u="sng" dirty="0">
                <a:hlinkClick r:id="rId4"/>
              </a:rPr>
              <a:t>https://www.w3schools.com/java/</a:t>
            </a:r>
            <a:endParaRPr lang="en-IN" dirty="0"/>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5"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6"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7"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8"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182020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381000" y="1323261"/>
            <a:ext cx="9448800" cy="4651979"/>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t>The Employee Management System was successfully developed as a desktop application.</a:t>
            </a:r>
          </a:p>
          <a:p>
            <a:pPr marL="342900" indent="-342900" algn="just">
              <a:lnSpc>
                <a:spcPct val="150000"/>
              </a:lnSpc>
              <a:buFont typeface="Arial" panose="020B0604020202020204" pitchFamily="34" charset="0"/>
              <a:buChar char="•"/>
            </a:pPr>
            <a:r>
              <a:rPr lang="en-US" sz="2000" dirty="0"/>
              <a:t>It replaces manual record-keeping with an efficient digital solution.</a:t>
            </a:r>
          </a:p>
          <a:p>
            <a:pPr marL="342900" indent="-342900" algn="just">
              <a:lnSpc>
                <a:spcPct val="150000"/>
              </a:lnSpc>
              <a:buFont typeface="Arial" panose="020B0604020202020204" pitchFamily="34" charset="0"/>
              <a:buChar char="•"/>
            </a:pPr>
            <a:r>
              <a:rPr lang="en-US" sz="2000" dirty="0"/>
              <a:t>The system provides key functionalities like </a:t>
            </a:r>
            <a:r>
              <a:rPr lang="en-US" sz="2000" b="1" dirty="0"/>
              <a:t>adding, updating, deleting, and searching employee records</a:t>
            </a:r>
            <a:r>
              <a:rPr lang="en-US" sz="2000" dirty="0"/>
              <a:t>.</a:t>
            </a:r>
          </a:p>
          <a:p>
            <a:pPr marL="342900" indent="-342900" algn="just">
              <a:lnSpc>
                <a:spcPct val="150000"/>
              </a:lnSpc>
              <a:buFont typeface="Arial" panose="020B0604020202020204" pitchFamily="34" charset="0"/>
              <a:buChar char="•"/>
            </a:pPr>
            <a:r>
              <a:rPr lang="en-US" sz="2000" dirty="0"/>
              <a:t>It ensures </a:t>
            </a:r>
            <a:r>
              <a:rPr lang="en-US" sz="2000" b="1" dirty="0"/>
              <a:t>data accuracy, security, and easy accessibility</a:t>
            </a:r>
            <a:r>
              <a:rPr lang="en-US" sz="2000" dirty="0"/>
              <a:t>.</a:t>
            </a:r>
          </a:p>
          <a:p>
            <a:pPr marL="342900" indent="-342900" algn="just">
              <a:lnSpc>
                <a:spcPct val="150000"/>
              </a:lnSpc>
              <a:buFont typeface="Arial" panose="020B0604020202020204" pitchFamily="34" charset="0"/>
              <a:buChar char="•"/>
            </a:pPr>
            <a:r>
              <a:rPr lang="en-US" sz="2000" dirty="0"/>
              <a:t>Technologies like </a:t>
            </a:r>
            <a:r>
              <a:rPr lang="en-US" sz="2000" b="1" dirty="0"/>
              <a:t>Java, Swing, JDBC, and Oracle Database</a:t>
            </a:r>
            <a:r>
              <a:rPr lang="en-US" sz="2000" dirty="0"/>
              <a:t> enabled reliable performance.</a:t>
            </a:r>
          </a:p>
          <a:p>
            <a:pPr marL="342900" indent="-342900" algn="just">
              <a:lnSpc>
                <a:spcPct val="150000"/>
              </a:lnSpc>
              <a:buFont typeface="Arial" panose="020B0604020202020204" pitchFamily="34" charset="0"/>
              <a:buChar char="•"/>
            </a:pPr>
            <a:r>
              <a:rPr lang="en-US" sz="2000" dirty="0"/>
              <a:t>The system improves organizational efficiency and reduces administrative workload.</a:t>
            </a: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2655</TotalTime>
  <Words>1228</Words>
  <Application>Microsoft Office PowerPoint</Application>
  <PresentationFormat>Custom</PresentationFormat>
  <Paragraphs>204</Paragraphs>
  <Slides>20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Palatino Linotype</vt:lpstr>
      <vt:lpstr>Times New Roman</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Database Design</vt:lpstr>
      <vt:lpstr>Database Design</vt:lpstr>
      <vt:lpstr>SYSTEM DESIGN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darlington chinokwetu</cp:lastModifiedBy>
  <cp:revision>51</cp:revision>
  <cp:lastPrinted>2025-10-14T18:21:49Z</cp:lastPrinted>
  <dcterms:created xsi:type="dcterms:W3CDTF">2025-10-10T08:28:06Z</dcterms:created>
  <dcterms:modified xsi:type="dcterms:W3CDTF">2026-04-04T10:34:05Z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